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65" r:id="rId27"/>
    <p:sldId id="266" r:id="rId28"/>
    <p:sldId id="267" r:id="rId29"/>
    <p:sldId id="268" r:id="rId30"/>
    <p:sldId id="349" r:id="rId31"/>
    <p:sldId id="351" r:id="rId32"/>
    <p:sldId id="352" r:id="rId33"/>
    <p:sldId id="353" r:id="rId34"/>
    <p:sldId id="354" r:id="rId35"/>
    <p:sldId id="356" r:id="rId36"/>
    <p:sldId id="355" r:id="rId37"/>
    <p:sldId id="324" r:id="rId38"/>
    <p:sldId id="326" r:id="rId39"/>
    <p:sldId id="327" r:id="rId40"/>
    <p:sldId id="332" r:id="rId41"/>
    <p:sldId id="333" r:id="rId42"/>
    <p:sldId id="334" r:id="rId43"/>
    <p:sldId id="328" r:id="rId44"/>
    <p:sldId id="335" r:id="rId45"/>
    <p:sldId id="336" r:id="rId46"/>
    <p:sldId id="329" r:id="rId47"/>
    <p:sldId id="337" r:id="rId48"/>
    <p:sldId id="338" r:id="rId49"/>
    <p:sldId id="330" r:id="rId50"/>
    <p:sldId id="339" r:id="rId51"/>
    <p:sldId id="340" r:id="rId52"/>
    <p:sldId id="331" r:id="rId53"/>
    <p:sldId id="341" r:id="rId54"/>
    <p:sldId id="342" r:id="rId55"/>
    <p:sldId id="343" r:id="rId56"/>
    <p:sldId id="320" r:id="rId57"/>
    <p:sldId id="323" r:id="rId58"/>
    <p:sldId id="322" r:id="rId59"/>
    <p:sldId id="321" r:id="rId60"/>
    <p:sldId id="325" r:id="rId61"/>
    <p:sldId id="344" r:id="rId62"/>
    <p:sldId id="345" r:id="rId63"/>
    <p:sldId id="346" r:id="rId64"/>
    <p:sldId id="348"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5" autoAdjust="0"/>
    <p:restoredTop sz="94660"/>
  </p:normalViewPr>
  <p:slideViewPr>
    <p:cSldViewPr snapToGrid="0">
      <p:cViewPr varScale="1">
        <p:scale>
          <a:sx n="41" d="100"/>
          <a:sy n="41" d="100"/>
        </p:scale>
        <p:origin x="98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DD8C0-CA2C-0C3C-835A-78E602C10A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7B57264-F1FD-3648-BAB2-722A4CB8E7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E0D7D35-DDC5-23F7-F159-A9AD7A58AEA1}"/>
              </a:ext>
            </a:extLst>
          </p:cNvPr>
          <p:cNvSpPr>
            <a:spLocks noGrp="1"/>
          </p:cNvSpPr>
          <p:nvPr>
            <p:ph type="dt" sz="half" idx="10"/>
          </p:nvPr>
        </p:nvSpPr>
        <p:spPr/>
        <p:txBody>
          <a:bodyPr/>
          <a:lstStyle/>
          <a:p>
            <a:fld id="{28D0F8AB-DA28-45E5-B5B3-A39D8477EF33}" type="datetimeFigureOut">
              <a:rPr lang="en-IN" smtClean="0"/>
              <a:t>24-06-2025</a:t>
            </a:fld>
            <a:endParaRPr lang="en-IN"/>
          </a:p>
        </p:txBody>
      </p:sp>
      <p:sp>
        <p:nvSpPr>
          <p:cNvPr id="5" name="Footer Placeholder 4">
            <a:extLst>
              <a:ext uri="{FF2B5EF4-FFF2-40B4-BE49-F238E27FC236}">
                <a16:creationId xmlns:a16="http://schemas.microsoft.com/office/drawing/2014/main" id="{4AA5DE1B-A19F-1A33-BEEA-83AA57173A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B832C2-2F2A-90ED-4F67-DE4190489A52}"/>
              </a:ext>
            </a:extLst>
          </p:cNvPr>
          <p:cNvSpPr>
            <a:spLocks noGrp="1"/>
          </p:cNvSpPr>
          <p:nvPr>
            <p:ph type="sldNum" sz="quarter" idx="12"/>
          </p:nvPr>
        </p:nvSpPr>
        <p:spPr/>
        <p:txBody>
          <a:bodyPr/>
          <a:lstStyle/>
          <a:p>
            <a:fld id="{7971A1BD-92AE-47BC-AF7C-A2097BB9D43F}" type="slidenum">
              <a:rPr lang="en-IN" smtClean="0"/>
              <a:t>‹#›</a:t>
            </a:fld>
            <a:endParaRPr lang="en-IN"/>
          </a:p>
        </p:txBody>
      </p:sp>
    </p:spTree>
    <p:extLst>
      <p:ext uri="{BB962C8B-B14F-4D97-AF65-F5344CB8AC3E}">
        <p14:creationId xmlns:p14="http://schemas.microsoft.com/office/powerpoint/2010/main" val="535225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BF25B-C5A7-7520-7B4F-8C862633DF3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1A151D2-E4E8-515F-35E3-53D494ABA3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779196-33D4-9641-AEEA-1AE236278543}"/>
              </a:ext>
            </a:extLst>
          </p:cNvPr>
          <p:cNvSpPr>
            <a:spLocks noGrp="1"/>
          </p:cNvSpPr>
          <p:nvPr>
            <p:ph type="dt" sz="half" idx="10"/>
          </p:nvPr>
        </p:nvSpPr>
        <p:spPr/>
        <p:txBody>
          <a:bodyPr/>
          <a:lstStyle/>
          <a:p>
            <a:fld id="{28D0F8AB-DA28-45E5-B5B3-A39D8477EF33}" type="datetimeFigureOut">
              <a:rPr lang="en-IN" smtClean="0"/>
              <a:t>24-06-2025</a:t>
            </a:fld>
            <a:endParaRPr lang="en-IN"/>
          </a:p>
        </p:txBody>
      </p:sp>
      <p:sp>
        <p:nvSpPr>
          <p:cNvPr id="5" name="Footer Placeholder 4">
            <a:extLst>
              <a:ext uri="{FF2B5EF4-FFF2-40B4-BE49-F238E27FC236}">
                <a16:creationId xmlns:a16="http://schemas.microsoft.com/office/drawing/2014/main" id="{89BC58AC-DBF4-A3C0-ECAF-A64B3FFB96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FD3063-BBC0-D2EC-DE64-1D0CFDA47D91}"/>
              </a:ext>
            </a:extLst>
          </p:cNvPr>
          <p:cNvSpPr>
            <a:spLocks noGrp="1"/>
          </p:cNvSpPr>
          <p:nvPr>
            <p:ph type="sldNum" sz="quarter" idx="12"/>
          </p:nvPr>
        </p:nvSpPr>
        <p:spPr/>
        <p:txBody>
          <a:bodyPr/>
          <a:lstStyle/>
          <a:p>
            <a:fld id="{7971A1BD-92AE-47BC-AF7C-A2097BB9D43F}" type="slidenum">
              <a:rPr lang="en-IN" smtClean="0"/>
              <a:t>‹#›</a:t>
            </a:fld>
            <a:endParaRPr lang="en-IN"/>
          </a:p>
        </p:txBody>
      </p:sp>
    </p:spTree>
    <p:extLst>
      <p:ext uri="{BB962C8B-B14F-4D97-AF65-F5344CB8AC3E}">
        <p14:creationId xmlns:p14="http://schemas.microsoft.com/office/powerpoint/2010/main" val="695124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81AB7-46C4-D113-DF73-D404A739E2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211E86F-157E-53D2-85BA-11DA35AEFC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FD954D-C41F-1413-960B-3E3B569090B8}"/>
              </a:ext>
            </a:extLst>
          </p:cNvPr>
          <p:cNvSpPr>
            <a:spLocks noGrp="1"/>
          </p:cNvSpPr>
          <p:nvPr>
            <p:ph type="dt" sz="half" idx="10"/>
          </p:nvPr>
        </p:nvSpPr>
        <p:spPr/>
        <p:txBody>
          <a:bodyPr/>
          <a:lstStyle/>
          <a:p>
            <a:fld id="{28D0F8AB-DA28-45E5-B5B3-A39D8477EF33}" type="datetimeFigureOut">
              <a:rPr lang="en-IN" smtClean="0"/>
              <a:t>24-06-2025</a:t>
            </a:fld>
            <a:endParaRPr lang="en-IN"/>
          </a:p>
        </p:txBody>
      </p:sp>
      <p:sp>
        <p:nvSpPr>
          <p:cNvPr id="5" name="Footer Placeholder 4">
            <a:extLst>
              <a:ext uri="{FF2B5EF4-FFF2-40B4-BE49-F238E27FC236}">
                <a16:creationId xmlns:a16="http://schemas.microsoft.com/office/drawing/2014/main" id="{04F01B50-228D-95EA-D796-8721E1E51C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693501-45D0-C6D8-10D4-F8F098BD88BC}"/>
              </a:ext>
            </a:extLst>
          </p:cNvPr>
          <p:cNvSpPr>
            <a:spLocks noGrp="1"/>
          </p:cNvSpPr>
          <p:nvPr>
            <p:ph type="sldNum" sz="quarter" idx="12"/>
          </p:nvPr>
        </p:nvSpPr>
        <p:spPr/>
        <p:txBody>
          <a:bodyPr/>
          <a:lstStyle/>
          <a:p>
            <a:fld id="{7971A1BD-92AE-47BC-AF7C-A2097BB9D43F}" type="slidenum">
              <a:rPr lang="en-IN" smtClean="0"/>
              <a:t>‹#›</a:t>
            </a:fld>
            <a:endParaRPr lang="en-IN"/>
          </a:p>
        </p:txBody>
      </p:sp>
    </p:spTree>
    <p:extLst>
      <p:ext uri="{BB962C8B-B14F-4D97-AF65-F5344CB8AC3E}">
        <p14:creationId xmlns:p14="http://schemas.microsoft.com/office/powerpoint/2010/main" val="562632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8D67D-13CE-76E9-1C56-CFFAC737EF9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E3256D-D8E7-F4B0-CD7D-70ADC7C4C7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1500EDC-0E39-8554-79E9-8C11F127E6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25AC1A4-AD55-2477-A8B2-077AD050AD34}"/>
              </a:ext>
            </a:extLst>
          </p:cNvPr>
          <p:cNvSpPr>
            <a:spLocks noGrp="1"/>
          </p:cNvSpPr>
          <p:nvPr>
            <p:ph type="dt" sz="half" idx="10"/>
          </p:nvPr>
        </p:nvSpPr>
        <p:spPr/>
        <p:txBody>
          <a:bodyPr/>
          <a:lstStyle/>
          <a:p>
            <a:fld id="{28D0F8AB-DA28-45E5-B5B3-A39D8477EF33}" type="datetimeFigureOut">
              <a:rPr lang="en-IN" smtClean="0"/>
              <a:t>24-06-2025</a:t>
            </a:fld>
            <a:endParaRPr lang="en-IN"/>
          </a:p>
        </p:txBody>
      </p:sp>
      <p:sp>
        <p:nvSpPr>
          <p:cNvPr id="6" name="Footer Placeholder 5">
            <a:extLst>
              <a:ext uri="{FF2B5EF4-FFF2-40B4-BE49-F238E27FC236}">
                <a16:creationId xmlns:a16="http://schemas.microsoft.com/office/drawing/2014/main" id="{68B125FD-8CB4-BF25-4C90-B8723499786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40314E-BE9A-06ED-16B2-90FED01DEC1F}"/>
              </a:ext>
            </a:extLst>
          </p:cNvPr>
          <p:cNvSpPr>
            <a:spLocks noGrp="1"/>
          </p:cNvSpPr>
          <p:nvPr>
            <p:ph type="sldNum" sz="quarter" idx="12"/>
          </p:nvPr>
        </p:nvSpPr>
        <p:spPr/>
        <p:txBody>
          <a:bodyPr/>
          <a:lstStyle/>
          <a:p>
            <a:fld id="{7971A1BD-92AE-47BC-AF7C-A2097BB9D43F}" type="slidenum">
              <a:rPr lang="en-IN" smtClean="0"/>
              <a:t>‹#›</a:t>
            </a:fld>
            <a:endParaRPr lang="en-IN"/>
          </a:p>
        </p:txBody>
      </p:sp>
    </p:spTree>
    <p:extLst>
      <p:ext uri="{BB962C8B-B14F-4D97-AF65-F5344CB8AC3E}">
        <p14:creationId xmlns:p14="http://schemas.microsoft.com/office/powerpoint/2010/main" val="3783101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C7284-4D07-8F82-F830-5492D9F68D2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15C096A-B3C7-8043-3C2D-8F67C6D51C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6D3704-7EFC-3232-02B6-C148C4DC36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B3EC3A3-4909-4A5A-82EB-27C8118F5E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B8D60E-048D-D92A-21E5-FF93891A13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9A56183-6323-2FD8-3A4A-3DD160E9D181}"/>
              </a:ext>
            </a:extLst>
          </p:cNvPr>
          <p:cNvSpPr>
            <a:spLocks noGrp="1"/>
          </p:cNvSpPr>
          <p:nvPr>
            <p:ph type="dt" sz="half" idx="10"/>
          </p:nvPr>
        </p:nvSpPr>
        <p:spPr/>
        <p:txBody>
          <a:bodyPr/>
          <a:lstStyle/>
          <a:p>
            <a:fld id="{28D0F8AB-DA28-45E5-B5B3-A39D8477EF33}" type="datetimeFigureOut">
              <a:rPr lang="en-IN" smtClean="0"/>
              <a:t>24-06-2025</a:t>
            </a:fld>
            <a:endParaRPr lang="en-IN"/>
          </a:p>
        </p:txBody>
      </p:sp>
      <p:sp>
        <p:nvSpPr>
          <p:cNvPr id="8" name="Footer Placeholder 7">
            <a:extLst>
              <a:ext uri="{FF2B5EF4-FFF2-40B4-BE49-F238E27FC236}">
                <a16:creationId xmlns:a16="http://schemas.microsoft.com/office/drawing/2014/main" id="{31F9A93C-3564-76E1-9C70-A229750F54C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49860D3-CDE2-6474-4DCA-8902EA8B31D1}"/>
              </a:ext>
            </a:extLst>
          </p:cNvPr>
          <p:cNvSpPr>
            <a:spLocks noGrp="1"/>
          </p:cNvSpPr>
          <p:nvPr>
            <p:ph type="sldNum" sz="quarter" idx="12"/>
          </p:nvPr>
        </p:nvSpPr>
        <p:spPr/>
        <p:txBody>
          <a:bodyPr/>
          <a:lstStyle/>
          <a:p>
            <a:fld id="{7971A1BD-92AE-47BC-AF7C-A2097BB9D43F}" type="slidenum">
              <a:rPr lang="en-IN" smtClean="0"/>
              <a:t>‹#›</a:t>
            </a:fld>
            <a:endParaRPr lang="en-IN"/>
          </a:p>
        </p:txBody>
      </p:sp>
    </p:spTree>
    <p:extLst>
      <p:ext uri="{BB962C8B-B14F-4D97-AF65-F5344CB8AC3E}">
        <p14:creationId xmlns:p14="http://schemas.microsoft.com/office/powerpoint/2010/main" val="3051516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004F4-7C94-B20D-38B3-987DF1CF607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C728A41-D456-7A3B-BC51-C92A01131E81}"/>
              </a:ext>
            </a:extLst>
          </p:cNvPr>
          <p:cNvSpPr>
            <a:spLocks noGrp="1"/>
          </p:cNvSpPr>
          <p:nvPr>
            <p:ph type="dt" sz="half" idx="10"/>
          </p:nvPr>
        </p:nvSpPr>
        <p:spPr/>
        <p:txBody>
          <a:bodyPr/>
          <a:lstStyle/>
          <a:p>
            <a:fld id="{28D0F8AB-DA28-45E5-B5B3-A39D8477EF33}" type="datetimeFigureOut">
              <a:rPr lang="en-IN" smtClean="0"/>
              <a:t>24-06-2025</a:t>
            </a:fld>
            <a:endParaRPr lang="en-IN"/>
          </a:p>
        </p:txBody>
      </p:sp>
      <p:sp>
        <p:nvSpPr>
          <p:cNvPr id="4" name="Footer Placeholder 3">
            <a:extLst>
              <a:ext uri="{FF2B5EF4-FFF2-40B4-BE49-F238E27FC236}">
                <a16:creationId xmlns:a16="http://schemas.microsoft.com/office/drawing/2014/main" id="{D06FD480-2CA2-3764-D549-E5B6E31DBB6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9559173-612C-21D6-165C-CAC2FC9361F3}"/>
              </a:ext>
            </a:extLst>
          </p:cNvPr>
          <p:cNvSpPr>
            <a:spLocks noGrp="1"/>
          </p:cNvSpPr>
          <p:nvPr>
            <p:ph type="sldNum" sz="quarter" idx="12"/>
          </p:nvPr>
        </p:nvSpPr>
        <p:spPr/>
        <p:txBody>
          <a:bodyPr/>
          <a:lstStyle/>
          <a:p>
            <a:fld id="{7971A1BD-92AE-47BC-AF7C-A2097BB9D43F}" type="slidenum">
              <a:rPr lang="en-IN" smtClean="0"/>
              <a:t>‹#›</a:t>
            </a:fld>
            <a:endParaRPr lang="en-IN"/>
          </a:p>
        </p:txBody>
      </p:sp>
    </p:spTree>
    <p:extLst>
      <p:ext uri="{BB962C8B-B14F-4D97-AF65-F5344CB8AC3E}">
        <p14:creationId xmlns:p14="http://schemas.microsoft.com/office/powerpoint/2010/main" val="3891181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63787C-F3AD-74D6-5F2F-E9C458BC3EA4}"/>
              </a:ext>
            </a:extLst>
          </p:cNvPr>
          <p:cNvSpPr>
            <a:spLocks noGrp="1"/>
          </p:cNvSpPr>
          <p:nvPr>
            <p:ph type="dt" sz="half" idx="10"/>
          </p:nvPr>
        </p:nvSpPr>
        <p:spPr/>
        <p:txBody>
          <a:bodyPr/>
          <a:lstStyle/>
          <a:p>
            <a:fld id="{28D0F8AB-DA28-45E5-B5B3-A39D8477EF33}" type="datetimeFigureOut">
              <a:rPr lang="en-IN" smtClean="0"/>
              <a:t>24-06-2025</a:t>
            </a:fld>
            <a:endParaRPr lang="en-IN"/>
          </a:p>
        </p:txBody>
      </p:sp>
      <p:sp>
        <p:nvSpPr>
          <p:cNvPr id="3" name="Footer Placeholder 2">
            <a:extLst>
              <a:ext uri="{FF2B5EF4-FFF2-40B4-BE49-F238E27FC236}">
                <a16:creationId xmlns:a16="http://schemas.microsoft.com/office/drawing/2014/main" id="{AC19A333-7F3C-8715-3F88-0D9627735F5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58389D6-9047-D3EF-E9B3-F8F52BE654A0}"/>
              </a:ext>
            </a:extLst>
          </p:cNvPr>
          <p:cNvSpPr>
            <a:spLocks noGrp="1"/>
          </p:cNvSpPr>
          <p:nvPr>
            <p:ph type="sldNum" sz="quarter" idx="12"/>
          </p:nvPr>
        </p:nvSpPr>
        <p:spPr/>
        <p:txBody>
          <a:bodyPr/>
          <a:lstStyle/>
          <a:p>
            <a:fld id="{7971A1BD-92AE-47BC-AF7C-A2097BB9D43F}" type="slidenum">
              <a:rPr lang="en-IN" smtClean="0"/>
              <a:t>‹#›</a:t>
            </a:fld>
            <a:endParaRPr lang="en-IN"/>
          </a:p>
        </p:txBody>
      </p:sp>
    </p:spTree>
    <p:extLst>
      <p:ext uri="{BB962C8B-B14F-4D97-AF65-F5344CB8AC3E}">
        <p14:creationId xmlns:p14="http://schemas.microsoft.com/office/powerpoint/2010/main" val="2990499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F240F-430D-E4F5-6AC3-376B5D9025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5D83A92-769F-B393-2BA5-21876378F5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DD3A5A0-A2E8-9A40-FECC-2AF03ABC19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11F06A-BF15-778F-599A-406D42164ADB}"/>
              </a:ext>
            </a:extLst>
          </p:cNvPr>
          <p:cNvSpPr>
            <a:spLocks noGrp="1"/>
          </p:cNvSpPr>
          <p:nvPr>
            <p:ph type="dt" sz="half" idx="10"/>
          </p:nvPr>
        </p:nvSpPr>
        <p:spPr/>
        <p:txBody>
          <a:bodyPr/>
          <a:lstStyle/>
          <a:p>
            <a:fld id="{28D0F8AB-DA28-45E5-B5B3-A39D8477EF33}" type="datetimeFigureOut">
              <a:rPr lang="en-IN" smtClean="0"/>
              <a:t>24-06-2025</a:t>
            </a:fld>
            <a:endParaRPr lang="en-IN"/>
          </a:p>
        </p:txBody>
      </p:sp>
      <p:sp>
        <p:nvSpPr>
          <p:cNvPr id="6" name="Footer Placeholder 5">
            <a:extLst>
              <a:ext uri="{FF2B5EF4-FFF2-40B4-BE49-F238E27FC236}">
                <a16:creationId xmlns:a16="http://schemas.microsoft.com/office/drawing/2014/main" id="{95CA27E7-9778-5352-C3AB-5006ABD2AC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DBBFB2-6522-9B69-0CEF-DE1C78A7EA14}"/>
              </a:ext>
            </a:extLst>
          </p:cNvPr>
          <p:cNvSpPr>
            <a:spLocks noGrp="1"/>
          </p:cNvSpPr>
          <p:nvPr>
            <p:ph type="sldNum" sz="quarter" idx="12"/>
          </p:nvPr>
        </p:nvSpPr>
        <p:spPr/>
        <p:txBody>
          <a:bodyPr/>
          <a:lstStyle/>
          <a:p>
            <a:fld id="{7971A1BD-92AE-47BC-AF7C-A2097BB9D43F}" type="slidenum">
              <a:rPr lang="en-IN" smtClean="0"/>
              <a:t>‹#›</a:t>
            </a:fld>
            <a:endParaRPr lang="en-IN"/>
          </a:p>
        </p:txBody>
      </p:sp>
    </p:spTree>
    <p:extLst>
      <p:ext uri="{BB962C8B-B14F-4D97-AF65-F5344CB8AC3E}">
        <p14:creationId xmlns:p14="http://schemas.microsoft.com/office/powerpoint/2010/main" val="3649543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B2D0A-D793-238C-6C58-9E8DB61238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878B3F1-3E27-DBCD-5A5C-4A8C1CC15A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CE0B9EA-6346-3290-5CB0-C194321909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05156E-D01A-02B7-C249-A6A096BC9F8A}"/>
              </a:ext>
            </a:extLst>
          </p:cNvPr>
          <p:cNvSpPr>
            <a:spLocks noGrp="1"/>
          </p:cNvSpPr>
          <p:nvPr>
            <p:ph type="dt" sz="half" idx="10"/>
          </p:nvPr>
        </p:nvSpPr>
        <p:spPr/>
        <p:txBody>
          <a:bodyPr/>
          <a:lstStyle/>
          <a:p>
            <a:fld id="{28D0F8AB-DA28-45E5-B5B3-A39D8477EF33}" type="datetimeFigureOut">
              <a:rPr lang="en-IN" smtClean="0"/>
              <a:t>24-06-2025</a:t>
            </a:fld>
            <a:endParaRPr lang="en-IN"/>
          </a:p>
        </p:txBody>
      </p:sp>
      <p:sp>
        <p:nvSpPr>
          <p:cNvPr id="6" name="Footer Placeholder 5">
            <a:extLst>
              <a:ext uri="{FF2B5EF4-FFF2-40B4-BE49-F238E27FC236}">
                <a16:creationId xmlns:a16="http://schemas.microsoft.com/office/drawing/2014/main" id="{47F4B358-5F36-604D-68B5-4B18E6DDBF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24B5909-ABFD-0F14-5EE0-D30FBA38766E}"/>
              </a:ext>
            </a:extLst>
          </p:cNvPr>
          <p:cNvSpPr>
            <a:spLocks noGrp="1"/>
          </p:cNvSpPr>
          <p:nvPr>
            <p:ph type="sldNum" sz="quarter" idx="12"/>
          </p:nvPr>
        </p:nvSpPr>
        <p:spPr/>
        <p:txBody>
          <a:bodyPr/>
          <a:lstStyle/>
          <a:p>
            <a:fld id="{7971A1BD-92AE-47BC-AF7C-A2097BB9D43F}" type="slidenum">
              <a:rPr lang="en-IN" smtClean="0"/>
              <a:t>‹#›</a:t>
            </a:fld>
            <a:endParaRPr lang="en-IN"/>
          </a:p>
        </p:txBody>
      </p:sp>
    </p:spTree>
    <p:extLst>
      <p:ext uri="{BB962C8B-B14F-4D97-AF65-F5344CB8AC3E}">
        <p14:creationId xmlns:p14="http://schemas.microsoft.com/office/powerpoint/2010/main" val="1095204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AECF7-D1FC-B078-F4DD-F5A214F1117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F358D25-07F9-A04F-383E-9FA168FB58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42C874-4D00-F785-D4FF-9058A277B6DA}"/>
              </a:ext>
            </a:extLst>
          </p:cNvPr>
          <p:cNvSpPr>
            <a:spLocks noGrp="1"/>
          </p:cNvSpPr>
          <p:nvPr>
            <p:ph type="dt" sz="half" idx="10"/>
          </p:nvPr>
        </p:nvSpPr>
        <p:spPr/>
        <p:txBody>
          <a:bodyPr/>
          <a:lstStyle/>
          <a:p>
            <a:fld id="{28D0F8AB-DA28-45E5-B5B3-A39D8477EF33}" type="datetimeFigureOut">
              <a:rPr lang="en-IN" smtClean="0"/>
              <a:t>24-06-2025</a:t>
            </a:fld>
            <a:endParaRPr lang="en-IN"/>
          </a:p>
        </p:txBody>
      </p:sp>
      <p:sp>
        <p:nvSpPr>
          <p:cNvPr id="5" name="Footer Placeholder 4">
            <a:extLst>
              <a:ext uri="{FF2B5EF4-FFF2-40B4-BE49-F238E27FC236}">
                <a16:creationId xmlns:a16="http://schemas.microsoft.com/office/drawing/2014/main" id="{41507BE1-5AB4-DFEC-3EEE-7D89666484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74C770-04FA-4E9D-4DAA-6201C84CA1F4}"/>
              </a:ext>
            </a:extLst>
          </p:cNvPr>
          <p:cNvSpPr>
            <a:spLocks noGrp="1"/>
          </p:cNvSpPr>
          <p:nvPr>
            <p:ph type="sldNum" sz="quarter" idx="12"/>
          </p:nvPr>
        </p:nvSpPr>
        <p:spPr/>
        <p:txBody>
          <a:bodyPr/>
          <a:lstStyle/>
          <a:p>
            <a:fld id="{7971A1BD-92AE-47BC-AF7C-A2097BB9D43F}" type="slidenum">
              <a:rPr lang="en-IN" smtClean="0"/>
              <a:t>‹#›</a:t>
            </a:fld>
            <a:endParaRPr lang="en-IN"/>
          </a:p>
        </p:txBody>
      </p:sp>
    </p:spTree>
    <p:extLst>
      <p:ext uri="{BB962C8B-B14F-4D97-AF65-F5344CB8AC3E}">
        <p14:creationId xmlns:p14="http://schemas.microsoft.com/office/powerpoint/2010/main" val="960477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80CCBC-2D86-3271-E4DC-35857A7462F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D227CB-BB77-60E2-DFBA-E5FBCF2E33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CEBF4B-CB92-7674-7C57-8B8BFF894225}"/>
              </a:ext>
            </a:extLst>
          </p:cNvPr>
          <p:cNvSpPr>
            <a:spLocks noGrp="1"/>
          </p:cNvSpPr>
          <p:nvPr>
            <p:ph type="dt" sz="half" idx="10"/>
          </p:nvPr>
        </p:nvSpPr>
        <p:spPr/>
        <p:txBody>
          <a:bodyPr/>
          <a:lstStyle/>
          <a:p>
            <a:fld id="{28D0F8AB-DA28-45E5-B5B3-A39D8477EF33}" type="datetimeFigureOut">
              <a:rPr lang="en-IN" smtClean="0"/>
              <a:t>24-06-2025</a:t>
            </a:fld>
            <a:endParaRPr lang="en-IN"/>
          </a:p>
        </p:txBody>
      </p:sp>
      <p:sp>
        <p:nvSpPr>
          <p:cNvPr id="5" name="Footer Placeholder 4">
            <a:extLst>
              <a:ext uri="{FF2B5EF4-FFF2-40B4-BE49-F238E27FC236}">
                <a16:creationId xmlns:a16="http://schemas.microsoft.com/office/drawing/2014/main" id="{0A7CAD6E-C7ED-5DA0-ECD7-1E1FC913B3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3C63AA-E16A-7AC8-95B4-98262DC2D2C2}"/>
              </a:ext>
            </a:extLst>
          </p:cNvPr>
          <p:cNvSpPr>
            <a:spLocks noGrp="1"/>
          </p:cNvSpPr>
          <p:nvPr>
            <p:ph type="sldNum" sz="quarter" idx="12"/>
          </p:nvPr>
        </p:nvSpPr>
        <p:spPr/>
        <p:txBody>
          <a:bodyPr/>
          <a:lstStyle/>
          <a:p>
            <a:fld id="{7971A1BD-92AE-47BC-AF7C-A2097BB9D43F}" type="slidenum">
              <a:rPr lang="en-IN" smtClean="0"/>
              <a:t>‹#›</a:t>
            </a:fld>
            <a:endParaRPr lang="en-IN"/>
          </a:p>
        </p:txBody>
      </p:sp>
    </p:spTree>
    <p:extLst>
      <p:ext uri="{BB962C8B-B14F-4D97-AF65-F5344CB8AC3E}">
        <p14:creationId xmlns:p14="http://schemas.microsoft.com/office/powerpoint/2010/main" val="2235969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BE9C05-8352-608C-7777-0C2FB6FF88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F9A21C4-F06A-2738-88A3-7A19510B8B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512E01-B993-B80A-20FC-43466A0DFB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D0F8AB-DA28-45E5-B5B3-A39D8477EF33}" type="datetimeFigureOut">
              <a:rPr lang="en-IN" smtClean="0"/>
              <a:t>24-06-2025</a:t>
            </a:fld>
            <a:endParaRPr lang="en-IN"/>
          </a:p>
        </p:txBody>
      </p:sp>
      <p:sp>
        <p:nvSpPr>
          <p:cNvPr id="5" name="Footer Placeholder 4">
            <a:extLst>
              <a:ext uri="{FF2B5EF4-FFF2-40B4-BE49-F238E27FC236}">
                <a16:creationId xmlns:a16="http://schemas.microsoft.com/office/drawing/2014/main" id="{74AB7A7A-33FF-230E-90CB-C535899470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741C684-6202-4BE6-E232-EF994A75E3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71A1BD-92AE-47BC-AF7C-A2097BB9D43F}" type="slidenum">
              <a:rPr lang="en-IN" smtClean="0"/>
              <a:t>‹#›</a:t>
            </a:fld>
            <a:endParaRPr lang="en-IN"/>
          </a:p>
        </p:txBody>
      </p:sp>
    </p:spTree>
    <p:extLst>
      <p:ext uri="{BB962C8B-B14F-4D97-AF65-F5344CB8AC3E}">
        <p14:creationId xmlns:p14="http://schemas.microsoft.com/office/powerpoint/2010/main" val="27115724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ED2A4-6BCE-3667-4ADD-2EE5100F4659}"/>
              </a:ext>
            </a:extLst>
          </p:cNvPr>
          <p:cNvSpPr>
            <a:spLocks noGrp="1"/>
          </p:cNvSpPr>
          <p:nvPr>
            <p:ph type="ctrTitle"/>
          </p:nvPr>
        </p:nvSpPr>
        <p:spPr/>
        <p:txBody>
          <a:bodyPr/>
          <a:lstStyle/>
          <a:p>
            <a:r>
              <a:rPr lang="en-IN" dirty="0"/>
              <a:t>DATA COMMUNICATION AND COMPUTER NETWORKS</a:t>
            </a:r>
          </a:p>
        </p:txBody>
      </p:sp>
      <p:sp>
        <p:nvSpPr>
          <p:cNvPr id="3" name="Subtitle 2">
            <a:extLst>
              <a:ext uri="{FF2B5EF4-FFF2-40B4-BE49-F238E27FC236}">
                <a16:creationId xmlns:a16="http://schemas.microsoft.com/office/drawing/2014/main" id="{73FA53B2-A7B8-B87E-A6C0-8585F55A8791}"/>
              </a:ext>
            </a:extLst>
          </p:cNvPr>
          <p:cNvSpPr>
            <a:spLocks noGrp="1"/>
          </p:cNvSpPr>
          <p:nvPr>
            <p:ph type="subTitle" idx="1"/>
          </p:nvPr>
        </p:nvSpPr>
        <p:spPr/>
        <p:txBody>
          <a:bodyPr/>
          <a:lstStyle/>
          <a:p>
            <a:r>
              <a:rPr lang="en-IN" dirty="0"/>
              <a:t>UNIT-1</a:t>
            </a:r>
          </a:p>
          <a:p>
            <a:r>
              <a:rPr lang="en-IN" dirty="0"/>
              <a:t>INTRODUCTION </a:t>
            </a:r>
          </a:p>
        </p:txBody>
      </p:sp>
    </p:spTree>
    <p:extLst>
      <p:ext uri="{BB962C8B-B14F-4D97-AF65-F5344CB8AC3E}">
        <p14:creationId xmlns:p14="http://schemas.microsoft.com/office/powerpoint/2010/main" val="405994483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A163-22BC-9C8D-2D69-04B50FB32A91}"/>
              </a:ext>
            </a:extLst>
          </p:cNvPr>
          <p:cNvSpPr>
            <a:spLocks noGrp="1"/>
          </p:cNvSpPr>
          <p:nvPr>
            <p:ph type="title"/>
          </p:nvPr>
        </p:nvSpPr>
        <p:spPr/>
        <p:txBody>
          <a:bodyPr/>
          <a:lstStyle/>
          <a:p>
            <a:r>
              <a:rPr lang="en-IN" dirty="0"/>
              <a:t>UNIT-1</a:t>
            </a:r>
          </a:p>
        </p:txBody>
      </p:sp>
      <p:sp>
        <p:nvSpPr>
          <p:cNvPr id="3" name="Content Placeholder 2">
            <a:extLst>
              <a:ext uri="{FF2B5EF4-FFF2-40B4-BE49-F238E27FC236}">
                <a16:creationId xmlns:a16="http://schemas.microsoft.com/office/drawing/2014/main" id="{3DCFC071-B7BE-DE05-8AF2-211EBA84ACF9}"/>
              </a:ext>
            </a:extLst>
          </p:cNvPr>
          <p:cNvSpPr>
            <a:spLocks noGrp="1"/>
          </p:cNvSpPr>
          <p:nvPr>
            <p:ph idx="1"/>
          </p:nvPr>
        </p:nvSpPr>
        <p:spPr/>
        <p:txBody>
          <a:bodyPr/>
          <a:lstStyle/>
          <a:p>
            <a:r>
              <a:rPr lang="en-US" dirty="0"/>
              <a:t>Data communication process </a:t>
            </a:r>
          </a:p>
          <a:p>
            <a:r>
              <a:rPr lang="en-US" dirty="0"/>
              <a:t> Components of communication media</a:t>
            </a:r>
          </a:p>
          <a:p>
            <a:r>
              <a:rPr lang="en-US" dirty="0"/>
              <a:t> Modes of Communication</a:t>
            </a:r>
          </a:p>
          <a:p>
            <a:r>
              <a:rPr lang="en-US" dirty="0"/>
              <a:t> IEEE protocol and Standards </a:t>
            </a:r>
          </a:p>
          <a:p>
            <a:r>
              <a:rPr lang="en-US" dirty="0"/>
              <a:t>Network classifications</a:t>
            </a:r>
          </a:p>
          <a:p>
            <a:r>
              <a:rPr lang="en-US" dirty="0"/>
              <a:t> Rudiments of networks topologies </a:t>
            </a:r>
          </a:p>
          <a:p>
            <a:r>
              <a:rPr lang="en-US" dirty="0"/>
              <a:t>Client Server and Peer to Peer Network Architecture. </a:t>
            </a:r>
            <a:endParaRPr lang="en-IN" dirty="0"/>
          </a:p>
        </p:txBody>
      </p:sp>
    </p:spTree>
    <p:extLst>
      <p:ext uri="{BB962C8B-B14F-4D97-AF65-F5344CB8AC3E}">
        <p14:creationId xmlns:p14="http://schemas.microsoft.com/office/powerpoint/2010/main" val="14689261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F62B1-B924-F22C-3D73-A5AD2C2B86D9}"/>
              </a:ext>
            </a:extLst>
          </p:cNvPr>
          <p:cNvSpPr>
            <a:spLocks noGrp="1"/>
          </p:cNvSpPr>
          <p:nvPr>
            <p:ph type="title"/>
          </p:nvPr>
        </p:nvSpPr>
        <p:spPr/>
        <p:txBody>
          <a:bodyPr/>
          <a:lstStyle/>
          <a:p>
            <a:r>
              <a:rPr lang="en-IN" dirty="0"/>
              <a:t>DATA &amp; INFORMATION</a:t>
            </a:r>
          </a:p>
        </p:txBody>
      </p:sp>
      <p:sp>
        <p:nvSpPr>
          <p:cNvPr id="3" name="Content Placeholder 2">
            <a:extLst>
              <a:ext uri="{FF2B5EF4-FFF2-40B4-BE49-F238E27FC236}">
                <a16:creationId xmlns:a16="http://schemas.microsoft.com/office/drawing/2014/main" id="{4559D811-3AA7-661B-91C5-212BF4B2F9C4}"/>
              </a:ext>
            </a:extLst>
          </p:cNvPr>
          <p:cNvSpPr>
            <a:spLocks noGrp="1"/>
          </p:cNvSpPr>
          <p:nvPr>
            <p:ph idx="1"/>
          </p:nvPr>
        </p:nvSpPr>
        <p:spPr/>
        <p:txBody>
          <a:bodyPr/>
          <a:lstStyle/>
          <a:p>
            <a:pPr algn="just"/>
            <a:r>
              <a:rPr lang="en-US" dirty="0"/>
              <a:t>Data refers to the raw facts that are collected while information refers to processed data that enables us to take decisions. </a:t>
            </a:r>
          </a:p>
          <a:p>
            <a:pPr marL="0" indent="0" algn="just">
              <a:buNone/>
            </a:pPr>
            <a:r>
              <a:rPr lang="en-US" dirty="0"/>
              <a:t>Ex. When result of a particular test is declared it contains data of all students, when you find the marks you have scored you have the information that lets you know whether you have passed or failed. </a:t>
            </a:r>
          </a:p>
          <a:p>
            <a:pPr algn="just"/>
            <a:r>
              <a:rPr lang="en-US" dirty="0"/>
              <a:t>The word data refers to any information which is presented in a form that is agreed and accepted upon by is creators and users. </a:t>
            </a:r>
            <a:endParaRPr lang="en-IN" dirty="0"/>
          </a:p>
        </p:txBody>
      </p:sp>
    </p:spTree>
    <p:extLst>
      <p:ext uri="{BB962C8B-B14F-4D97-AF65-F5344CB8AC3E}">
        <p14:creationId xmlns:p14="http://schemas.microsoft.com/office/powerpoint/2010/main" val="10545797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6B206-B8E5-6B53-A4BB-027BC74CB164}"/>
              </a:ext>
            </a:extLst>
          </p:cNvPr>
          <p:cNvSpPr>
            <a:spLocks noGrp="1"/>
          </p:cNvSpPr>
          <p:nvPr>
            <p:ph type="title"/>
          </p:nvPr>
        </p:nvSpPr>
        <p:spPr/>
        <p:txBody>
          <a:bodyPr/>
          <a:lstStyle/>
          <a:p>
            <a:r>
              <a:rPr lang="en-IN" dirty="0"/>
              <a:t>1.1 DATA COMMUNICATION </a:t>
            </a:r>
          </a:p>
        </p:txBody>
      </p:sp>
      <p:sp>
        <p:nvSpPr>
          <p:cNvPr id="3" name="Content Placeholder 2">
            <a:extLst>
              <a:ext uri="{FF2B5EF4-FFF2-40B4-BE49-F238E27FC236}">
                <a16:creationId xmlns:a16="http://schemas.microsoft.com/office/drawing/2014/main" id="{2EACE9C5-2A70-1550-42CD-90CAD0690F1B}"/>
              </a:ext>
            </a:extLst>
          </p:cNvPr>
          <p:cNvSpPr>
            <a:spLocks noGrp="1"/>
          </p:cNvSpPr>
          <p:nvPr>
            <p:ph idx="1"/>
          </p:nvPr>
        </p:nvSpPr>
        <p:spPr/>
        <p:txBody>
          <a:bodyPr>
            <a:normAutofit fontScale="92500" lnSpcReduction="10000"/>
          </a:bodyPr>
          <a:lstStyle/>
          <a:p>
            <a:pPr algn="just"/>
            <a:r>
              <a:rPr lang="en-US" dirty="0"/>
              <a:t>Data Communication is a process of exchanging data or information In case of computer networks this exchange is done between two devices over a transmission medium. </a:t>
            </a:r>
          </a:p>
          <a:p>
            <a:pPr algn="just"/>
            <a:r>
              <a:rPr lang="en-US" dirty="0"/>
              <a:t>This process involves a communication system which is made up of hardware and software. The hardware part involves the sender and receiver devices and the intermediate devices through which the data passes. The software part involves certain rules which specify what is to be communicated, how it is to be communicated and when. It is also called as a Protocol. </a:t>
            </a:r>
          </a:p>
          <a:p>
            <a:pPr algn="just"/>
            <a:r>
              <a:rPr lang="en-US" dirty="0"/>
              <a:t>The following sections describes the fundamental characteristics that are important for the effective working of data communication process and is followed by the components that make up a data communications system. </a:t>
            </a:r>
            <a:endParaRPr lang="en-IN" dirty="0"/>
          </a:p>
        </p:txBody>
      </p:sp>
    </p:spTree>
    <p:extLst>
      <p:ext uri="{BB962C8B-B14F-4D97-AF65-F5344CB8AC3E}">
        <p14:creationId xmlns:p14="http://schemas.microsoft.com/office/powerpoint/2010/main" val="32701392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874DCD-2ED3-AF9A-6BD3-5D813467B4A3}"/>
              </a:ext>
            </a:extLst>
          </p:cNvPr>
          <p:cNvSpPr>
            <a:spLocks noGrp="1"/>
          </p:cNvSpPr>
          <p:nvPr>
            <p:ph idx="1"/>
          </p:nvPr>
        </p:nvSpPr>
        <p:spPr>
          <a:xfrm>
            <a:off x="838200" y="698643"/>
            <a:ext cx="10515600" cy="5478320"/>
          </a:xfrm>
        </p:spPr>
        <p:txBody>
          <a:bodyPr>
            <a:normAutofit lnSpcReduction="10000"/>
          </a:bodyPr>
          <a:lstStyle/>
          <a:p>
            <a:pPr marL="0" indent="0" algn="just">
              <a:buNone/>
            </a:pPr>
            <a:r>
              <a:rPr lang="en-US" dirty="0"/>
              <a:t>1.1.1 Characteristics of Data Communication</a:t>
            </a:r>
          </a:p>
          <a:p>
            <a:pPr marL="0" indent="0" algn="just">
              <a:buNone/>
            </a:pPr>
            <a:r>
              <a:rPr lang="en-US" dirty="0"/>
              <a:t>The effectiveness of any data communications system depends upon the following four fundamental characteristics: </a:t>
            </a:r>
          </a:p>
          <a:p>
            <a:pPr marL="0" indent="0" algn="just">
              <a:buNone/>
            </a:pPr>
            <a:r>
              <a:rPr lang="en-US" dirty="0"/>
              <a:t>1.Delivery: The data should be delivered to the correct destination and correct user. </a:t>
            </a:r>
          </a:p>
          <a:p>
            <a:pPr marL="0" indent="0" algn="just">
              <a:buNone/>
            </a:pPr>
            <a:r>
              <a:rPr lang="en-US" dirty="0"/>
              <a:t>2. Accuracy: The communication system should deliver the data accurately, without introducing any errors. The data may get corrupted during transmission affecting the accuracy of the delivered data. </a:t>
            </a:r>
          </a:p>
          <a:p>
            <a:pPr marL="0" indent="0" algn="just">
              <a:buNone/>
            </a:pPr>
            <a:r>
              <a:rPr lang="en-US" dirty="0"/>
              <a:t>3. Timeliness: Audio and Video data has to be delivered in a timely manner without any delay; such a data delivery is called real time transmission of data. </a:t>
            </a:r>
          </a:p>
          <a:p>
            <a:pPr marL="0" indent="0" algn="just">
              <a:buNone/>
            </a:pPr>
            <a:r>
              <a:rPr lang="en-US" dirty="0"/>
              <a:t>4. Jitter: It is the variation in the packet arrival time. Uneven Jitter may affect the timeliness of data being transmitted. </a:t>
            </a:r>
            <a:endParaRPr lang="en-IN" dirty="0"/>
          </a:p>
        </p:txBody>
      </p:sp>
    </p:spTree>
    <p:extLst>
      <p:ext uri="{BB962C8B-B14F-4D97-AF65-F5344CB8AC3E}">
        <p14:creationId xmlns:p14="http://schemas.microsoft.com/office/powerpoint/2010/main" val="11555367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2D47E3-7979-F834-FCA4-3140DB46D51D}"/>
              </a:ext>
            </a:extLst>
          </p:cNvPr>
          <p:cNvSpPr>
            <a:spLocks noGrp="1"/>
          </p:cNvSpPr>
          <p:nvPr>
            <p:ph idx="1"/>
          </p:nvPr>
        </p:nvSpPr>
        <p:spPr>
          <a:xfrm>
            <a:off x="838200" y="667820"/>
            <a:ext cx="10515600" cy="5509143"/>
          </a:xfrm>
        </p:spPr>
        <p:txBody>
          <a:bodyPr/>
          <a:lstStyle/>
          <a:p>
            <a:pPr marL="0" indent="0">
              <a:buNone/>
            </a:pPr>
            <a:r>
              <a:rPr lang="en-IN" dirty="0"/>
              <a:t>1.1.2 Components of Data Communication</a:t>
            </a:r>
            <a:r>
              <a:rPr lang="en-US" dirty="0"/>
              <a:t> </a:t>
            </a:r>
          </a:p>
          <a:p>
            <a:pPr marL="0" indent="0">
              <a:buNone/>
            </a:pPr>
            <a:r>
              <a:rPr lang="en-US" dirty="0"/>
              <a:t>A Data Communication system has five components as shown in the diagram below: </a:t>
            </a:r>
          </a:p>
          <a:p>
            <a:pPr marL="0" indent="0">
              <a:buNone/>
            </a:pPr>
            <a:endParaRPr lang="en-IN" dirty="0"/>
          </a:p>
          <a:p>
            <a:pPr marL="0" indent="0">
              <a:buNone/>
            </a:pPr>
            <a:endParaRPr lang="en-IN" dirty="0"/>
          </a:p>
        </p:txBody>
      </p:sp>
      <p:pic>
        <p:nvPicPr>
          <p:cNvPr id="5" name="Picture 4">
            <a:extLst>
              <a:ext uri="{FF2B5EF4-FFF2-40B4-BE49-F238E27FC236}">
                <a16:creationId xmlns:a16="http://schemas.microsoft.com/office/drawing/2014/main" id="{B8AD0DF3-C1C0-AA34-83E1-847DC92699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2076" y="2662219"/>
            <a:ext cx="7196585" cy="3376641"/>
          </a:xfrm>
          <a:prstGeom prst="rect">
            <a:avLst/>
          </a:prstGeom>
        </p:spPr>
      </p:pic>
    </p:spTree>
    <p:extLst>
      <p:ext uri="{BB962C8B-B14F-4D97-AF65-F5344CB8AC3E}">
        <p14:creationId xmlns:p14="http://schemas.microsoft.com/office/powerpoint/2010/main" val="49108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19A139-A404-760A-7DEB-2DD053003C2B}"/>
              </a:ext>
            </a:extLst>
          </p:cNvPr>
          <p:cNvSpPr>
            <a:spLocks noGrp="1"/>
          </p:cNvSpPr>
          <p:nvPr>
            <p:ph idx="1"/>
          </p:nvPr>
        </p:nvSpPr>
        <p:spPr>
          <a:xfrm>
            <a:off x="838200" y="708917"/>
            <a:ext cx="10515600" cy="5468046"/>
          </a:xfrm>
        </p:spPr>
        <p:txBody>
          <a:bodyPr>
            <a:normAutofit fontScale="92500"/>
          </a:bodyPr>
          <a:lstStyle/>
          <a:p>
            <a:pPr marL="0" indent="0" algn="just">
              <a:buNone/>
            </a:pPr>
            <a:r>
              <a:rPr lang="en-US" dirty="0"/>
              <a:t>1.Message Message is the information to be communicated by the sender to the receiver. </a:t>
            </a:r>
          </a:p>
          <a:p>
            <a:pPr marL="0" indent="0" algn="just">
              <a:buNone/>
            </a:pPr>
            <a:r>
              <a:rPr lang="en-US" dirty="0"/>
              <a:t>2. Sender The sender is any device that is capable of sending the data (message). </a:t>
            </a:r>
          </a:p>
          <a:p>
            <a:pPr marL="0" indent="0" algn="just">
              <a:buNone/>
            </a:pPr>
            <a:r>
              <a:rPr lang="en-US" dirty="0"/>
              <a:t>3. Receiver The receiver is a device that the sender wants to communicate the data (message). </a:t>
            </a:r>
          </a:p>
          <a:p>
            <a:pPr marL="0" indent="0" algn="just">
              <a:buNone/>
            </a:pPr>
            <a:r>
              <a:rPr lang="en-US" dirty="0"/>
              <a:t>4. Transmission Medium It is the path by which the message travels from sender to receiver. It can be wired or wireless and many subtypes in both.</a:t>
            </a:r>
          </a:p>
          <a:p>
            <a:pPr marL="0" indent="0" algn="just">
              <a:buNone/>
            </a:pPr>
            <a:r>
              <a:rPr lang="en-US" dirty="0"/>
              <a:t> 5. Protocol It is an agreed upon set or rules used by the sender and receiver to communicate data. A protocol is a set of rules that governs data communication. A Protocol is a necessity in data communications without which the communicating entities are like two persons trying to talk to each other in a different language without know the other language. </a:t>
            </a:r>
            <a:endParaRPr lang="en-IN" dirty="0"/>
          </a:p>
        </p:txBody>
      </p:sp>
    </p:spTree>
    <p:extLst>
      <p:ext uri="{BB962C8B-B14F-4D97-AF65-F5344CB8AC3E}">
        <p14:creationId xmlns:p14="http://schemas.microsoft.com/office/powerpoint/2010/main" val="2429066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DE486-8184-0458-F59D-BD2129489543}"/>
              </a:ext>
            </a:extLst>
          </p:cNvPr>
          <p:cNvSpPr>
            <a:spLocks noGrp="1"/>
          </p:cNvSpPr>
          <p:nvPr>
            <p:ph type="title"/>
          </p:nvPr>
        </p:nvSpPr>
        <p:spPr>
          <a:xfrm>
            <a:off x="838200" y="365125"/>
            <a:ext cx="10515600" cy="836951"/>
          </a:xfrm>
        </p:spPr>
        <p:txBody>
          <a:bodyPr/>
          <a:lstStyle/>
          <a:p>
            <a:r>
              <a:rPr lang="en-IN" dirty="0"/>
              <a:t>1.2 DATA REPRESENTATION </a:t>
            </a:r>
          </a:p>
        </p:txBody>
      </p:sp>
      <p:sp>
        <p:nvSpPr>
          <p:cNvPr id="3" name="Content Placeholder 2">
            <a:extLst>
              <a:ext uri="{FF2B5EF4-FFF2-40B4-BE49-F238E27FC236}">
                <a16:creationId xmlns:a16="http://schemas.microsoft.com/office/drawing/2014/main" id="{D053E87E-0310-D0C3-EE77-C95E942A8E95}"/>
              </a:ext>
            </a:extLst>
          </p:cNvPr>
          <p:cNvSpPr>
            <a:spLocks noGrp="1"/>
          </p:cNvSpPr>
          <p:nvPr>
            <p:ph idx="1"/>
          </p:nvPr>
        </p:nvSpPr>
        <p:spPr>
          <a:xfrm>
            <a:off x="838200" y="1202076"/>
            <a:ext cx="10515600" cy="5290799"/>
          </a:xfrm>
        </p:spPr>
        <p:txBody>
          <a:bodyPr>
            <a:normAutofit fontScale="77500" lnSpcReduction="20000"/>
          </a:bodyPr>
          <a:lstStyle/>
          <a:p>
            <a:pPr algn="just"/>
            <a:r>
              <a:rPr lang="en-US" dirty="0"/>
              <a:t>Data is collection of raw facts which is processed to deduce information. There may be different forms in which data may be represented. Some of the forms of data used in communications are as follows: </a:t>
            </a:r>
          </a:p>
          <a:p>
            <a:pPr marL="0" indent="0" algn="just">
              <a:buNone/>
            </a:pPr>
            <a:r>
              <a:rPr lang="en-US" dirty="0"/>
              <a:t>1.Text -Text includes combination of alphabets in small case as well as upper case. It is stored as a pattern of bits. Prevalent encoding system : ASCII, Unicode </a:t>
            </a:r>
          </a:p>
          <a:p>
            <a:pPr marL="0" indent="0" algn="just">
              <a:buNone/>
            </a:pPr>
            <a:r>
              <a:rPr lang="en-US" dirty="0"/>
              <a:t>2. Numbers -Numbers include combination of digits from 0 to 9. It is stored as a pattern of bits. Prevalent encoding system : ASCII, Unicode </a:t>
            </a:r>
          </a:p>
          <a:p>
            <a:pPr marL="0" indent="0" algn="just">
              <a:buNone/>
            </a:pPr>
            <a:r>
              <a:rPr lang="en-US" dirty="0"/>
              <a:t>3. Images ―An image is worth a thousand words‖ is a very famous saying. In computers images are digitally stored. A Pixel is the smallest element of an image. To put it in simple terms, a picture or image is a matrix of pixel elements. The pixels are represented in the form of bits. Depending upon the type of image (black n white or color) each pixel would require different number of bits to represent the value of a pixel. </a:t>
            </a:r>
          </a:p>
          <a:p>
            <a:pPr marL="0" indent="0" algn="just">
              <a:buNone/>
            </a:pPr>
            <a:r>
              <a:rPr lang="en-US" dirty="0"/>
              <a:t>The size of an image depends upon the number of pixels (also called resolution) and the bit pattern used to indicate the value of each pixel. </a:t>
            </a:r>
          </a:p>
          <a:p>
            <a:pPr marL="0" indent="0" algn="just">
              <a:buNone/>
            </a:pPr>
            <a:r>
              <a:rPr lang="en-US" dirty="0"/>
              <a:t>Example: if an image is purely black and white (two color) each pixel can be represented by a value either 0 or 1, so an image made up of 10 x 10 pixel elements would require only 100 bits in memory to be stored. </a:t>
            </a:r>
            <a:endParaRPr lang="en-IN" dirty="0"/>
          </a:p>
        </p:txBody>
      </p:sp>
    </p:spTree>
    <p:extLst>
      <p:ext uri="{BB962C8B-B14F-4D97-AF65-F5344CB8AC3E}">
        <p14:creationId xmlns:p14="http://schemas.microsoft.com/office/powerpoint/2010/main" val="3406806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EC6E94-98BC-6619-49FA-868BC75A2661}"/>
              </a:ext>
            </a:extLst>
          </p:cNvPr>
          <p:cNvSpPr>
            <a:spLocks noGrp="1"/>
          </p:cNvSpPr>
          <p:nvPr>
            <p:ph idx="1"/>
          </p:nvPr>
        </p:nvSpPr>
        <p:spPr>
          <a:xfrm>
            <a:off x="838200" y="893852"/>
            <a:ext cx="10515600" cy="5283111"/>
          </a:xfrm>
        </p:spPr>
        <p:txBody>
          <a:bodyPr/>
          <a:lstStyle/>
          <a:p>
            <a:pPr marL="0" indent="0">
              <a:buNone/>
            </a:pPr>
            <a:r>
              <a:rPr lang="en-US" dirty="0"/>
              <a:t>4. Audio -Data can also be in the form of sound which can be recorded and broadcasted. </a:t>
            </a:r>
          </a:p>
          <a:p>
            <a:pPr marL="0" indent="0">
              <a:buNone/>
            </a:pPr>
            <a:r>
              <a:rPr lang="en-US" dirty="0"/>
              <a:t>Example: What we hear on the radio is a source of data or information. Audio data is continuous, not discrete.</a:t>
            </a:r>
          </a:p>
          <a:p>
            <a:pPr marL="0" indent="0">
              <a:buNone/>
            </a:pPr>
            <a:r>
              <a:rPr lang="en-US" dirty="0"/>
              <a:t> 5. Video -Video refers to broadcasting of data in form of picture or movie</a:t>
            </a:r>
            <a:endParaRPr lang="en-IN" dirty="0"/>
          </a:p>
        </p:txBody>
      </p:sp>
    </p:spTree>
    <p:extLst>
      <p:ext uri="{BB962C8B-B14F-4D97-AF65-F5344CB8AC3E}">
        <p14:creationId xmlns:p14="http://schemas.microsoft.com/office/powerpoint/2010/main" val="698000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E865C-2166-5FA0-EEBE-C9FAE684E615}"/>
              </a:ext>
            </a:extLst>
          </p:cNvPr>
          <p:cNvSpPr>
            <a:spLocks noGrp="1"/>
          </p:cNvSpPr>
          <p:nvPr>
            <p:ph type="title"/>
          </p:nvPr>
        </p:nvSpPr>
        <p:spPr/>
        <p:txBody>
          <a:bodyPr/>
          <a:lstStyle/>
          <a:p>
            <a:r>
              <a:rPr lang="en-IN" dirty="0"/>
              <a:t>1.3 The Data Communication Process</a:t>
            </a:r>
          </a:p>
        </p:txBody>
      </p:sp>
      <p:sp>
        <p:nvSpPr>
          <p:cNvPr id="3" name="Content Placeholder 2">
            <a:extLst>
              <a:ext uri="{FF2B5EF4-FFF2-40B4-BE49-F238E27FC236}">
                <a16:creationId xmlns:a16="http://schemas.microsoft.com/office/drawing/2014/main" id="{75A28C88-C125-B1CA-AFA4-477A548FEFE0}"/>
              </a:ext>
            </a:extLst>
          </p:cNvPr>
          <p:cNvSpPr>
            <a:spLocks noGrp="1"/>
          </p:cNvSpPr>
          <p:nvPr>
            <p:ph idx="1"/>
          </p:nvPr>
        </p:nvSpPr>
        <p:spPr>
          <a:xfrm>
            <a:off x="838200" y="1500026"/>
            <a:ext cx="10689404" cy="5147353"/>
          </a:xfrm>
        </p:spPr>
        <p:txBody>
          <a:bodyPr>
            <a:normAutofit fontScale="77500" lnSpcReduction="20000"/>
          </a:bodyPr>
          <a:lstStyle/>
          <a:p>
            <a:pPr marL="0" indent="0">
              <a:buNone/>
            </a:pPr>
            <a:r>
              <a:rPr lang="en-US" dirty="0"/>
              <a:t>The data communication process involves the following steps:</a:t>
            </a:r>
          </a:p>
          <a:p>
            <a:pPr marL="0" indent="0">
              <a:buNone/>
            </a:pPr>
            <a:r>
              <a:rPr lang="en-US" b="1" dirty="0"/>
              <a:t>a) Data Generation</a:t>
            </a:r>
          </a:p>
          <a:p>
            <a:pPr marL="0" indent="0">
              <a:buNone/>
            </a:pPr>
            <a:r>
              <a:rPr lang="en-US" dirty="0"/>
              <a:t>Data is created by the sender using input devices or software applications.</a:t>
            </a:r>
          </a:p>
          <a:p>
            <a:pPr marL="0" indent="0">
              <a:buNone/>
            </a:pPr>
            <a:r>
              <a:rPr lang="en-US" b="1" dirty="0"/>
              <a:t>b) Encoding and Formatting</a:t>
            </a:r>
          </a:p>
          <a:p>
            <a:pPr marL="0" indent="0">
              <a:buNone/>
            </a:pPr>
            <a:r>
              <a:rPr lang="en-US" dirty="0"/>
              <a:t>The data is encoded into signals (analog or digital) suitable for transmission and formatted according to a protocol.</a:t>
            </a:r>
          </a:p>
          <a:p>
            <a:pPr marL="0" indent="0">
              <a:buNone/>
            </a:pPr>
            <a:r>
              <a:rPr lang="en-US" b="1" dirty="0"/>
              <a:t>c) Transmission</a:t>
            </a:r>
          </a:p>
          <a:p>
            <a:pPr marL="0" indent="0">
              <a:buNone/>
            </a:pPr>
            <a:r>
              <a:rPr lang="en-US" dirty="0"/>
              <a:t>Encoded signals are transmitted over a medium to the receiving device.</a:t>
            </a:r>
          </a:p>
          <a:p>
            <a:pPr marL="0" indent="0">
              <a:buNone/>
            </a:pPr>
            <a:r>
              <a:rPr lang="en-US" b="1" dirty="0"/>
              <a:t>d) Reception</a:t>
            </a:r>
          </a:p>
          <a:p>
            <a:pPr marL="0" indent="0">
              <a:buNone/>
            </a:pPr>
            <a:r>
              <a:rPr lang="en-US" dirty="0"/>
              <a:t>The receiver accepts the transmitted signal and detects the incoming data.</a:t>
            </a:r>
          </a:p>
          <a:p>
            <a:pPr marL="0" indent="0">
              <a:buNone/>
            </a:pPr>
            <a:r>
              <a:rPr lang="en-US" b="1" dirty="0"/>
              <a:t>e) Decoding and Interpretation</a:t>
            </a:r>
          </a:p>
          <a:p>
            <a:pPr marL="0" indent="0">
              <a:buNone/>
            </a:pPr>
            <a:r>
              <a:rPr lang="en-US" dirty="0"/>
              <a:t>The received signal is decoded back into meaningful data for the receiver to understand.</a:t>
            </a:r>
          </a:p>
          <a:p>
            <a:pPr marL="0" indent="0">
              <a:buNone/>
            </a:pPr>
            <a:r>
              <a:rPr lang="en-US" b="1" dirty="0"/>
              <a:t>f) Acknowledgment and Feedback</a:t>
            </a:r>
          </a:p>
          <a:p>
            <a:pPr marL="0" indent="0">
              <a:buNone/>
            </a:pPr>
            <a:r>
              <a:rPr lang="en-US" dirty="0"/>
              <a:t>In many systems, the receiver sends an acknowledgment (ACK) back to confirm the receipt of the data.</a:t>
            </a:r>
          </a:p>
          <a:p>
            <a:pPr marL="0" indent="0">
              <a:buNone/>
            </a:pPr>
            <a:endParaRPr lang="en-IN" dirty="0"/>
          </a:p>
        </p:txBody>
      </p:sp>
    </p:spTree>
    <p:extLst>
      <p:ext uri="{BB962C8B-B14F-4D97-AF65-F5344CB8AC3E}">
        <p14:creationId xmlns:p14="http://schemas.microsoft.com/office/powerpoint/2010/main" val="2609036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B7620-7917-682F-F667-749FED38C198}"/>
              </a:ext>
            </a:extLst>
          </p:cNvPr>
          <p:cNvSpPr>
            <a:spLocks noGrp="1"/>
          </p:cNvSpPr>
          <p:nvPr>
            <p:ph type="title"/>
          </p:nvPr>
        </p:nvSpPr>
        <p:spPr>
          <a:xfrm>
            <a:off x="838200" y="365126"/>
            <a:ext cx="10515600" cy="867774"/>
          </a:xfrm>
        </p:spPr>
        <p:txBody>
          <a:bodyPr>
            <a:normAutofit fontScale="90000"/>
          </a:bodyPr>
          <a:lstStyle/>
          <a:p>
            <a:r>
              <a:rPr lang="en-US" b="1" dirty="0"/>
              <a:t> Data Generation</a:t>
            </a:r>
            <a:br>
              <a:rPr lang="en-US" b="1" dirty="0"/>
            </a:br>
            <a:endParaRPr lang="en-IN" dirty="0"/>
          </a:p>
        </p:txBody>
      </p:sp>
      <p:sp>
        <p:nvSpPr>
          <p:cNvPr id="3" name="Content Placeholder 2">
            <a:extLst>
              <a:ext uri="{FF2B5EF4-FFF2-40B4-BE49-F238E27FC236}">
                <a16:creationId xmlns:a16="http://schemas.microsoft.com/office/drawing/2014/main" id="{F56FCA6F-E9FE-2115-5534-BE04CBDE29AA}"/>
              </a:ext>
            </a:extLst>
          </p:cNvPr>
          <p:cNvSpPr>
            <a:spLocks noGrp="1"/>
          </p:cNvSpPr>
          <p:nvPr>
            <p:ph idx="1"/>
          </p:nvPr>
        </p:nvSpPr>
        <p:spPr>
          <a:xfrm>
            <a:off x="838200" y="1232900"/>
            <a:ext cx="10515600" cy="4944063"/>
          </a:xfrm>
        </p:spPr>
        <p:txBody>
          <a:bodyPr/>
          <a:lstStyle/>
          <a:p>
            <a:pPr algn="just"/>
            <a:r>
              <a:rPr lang="en-US" dirty="0"/>
              <a:t>This is the </a:t>
            </a:r>
            <a:r>
              <a:rPr lang="en-US" b="1" dirty="0"/>
              <a:t>initial stage</a:t>
            </a:r>
            <a:r>
              <a:rPr lang="en-US" dirty="0"/>
              <a:t> of the communication process where the sender creates the data that needs to be transmitted. Data generation can occur in different ways depending on the type of system or device used.</a:t>
            </a:r>
          </a:p>
          <a:p>
            <a:pPr algn="just">
              <a:buFont typeface="Wingdings" panose="05000000000000000000" pitchFamily="2" charset="2"/>
              <a:buChar char="q"/>
            </a:pPr>
            <a:r>
              <a:rPr lang="en-US" dirty="0"/>
              <a:t>The sender can be a </a:t>
            </a:r>
            <a:r>
              <a:rPr lang="en-US" b="1" dirty="0"/>
              <a:t>human user</a:t>
            </a:r>
            <a:r>
              <a:rPr lang="en-US" dirty="0"/>
              <a:t> or a </a:t>
            </a:r>
            <a:r>
              <a:rPr lang="en-US" b="1" dirty="0"/>
              <a:t>computer system</a:t>
            </a:r>
            <a:r>
              <a:rPr lang="en-US" dirty="0"/>
              <a:t>.</a:t>
            </a:r>
          </a:p>
          <a:p>
            <a:pPr algn="just">
              <a:buFont typeface="Wingdings" panose="05000000000000000000" pitchFamily="2" charset="2"/>
              <a:buChar char="q"/>
            </a:pPr>
            <a:r>
              <a:rPr lang="en-US" dirty="0"/>
              <a:t>Input devices such as </a:t>
            </a:r>
            <a:r>
              <a:rPr lang="en-US" b="1" dirty="0"/>
              <a:t>keyboard, mouse, camera, or sensors</a:t>
            </a:r>
            <a:r>
              <a:rPr lang="en-US" dirty="0"/>
              <a:t> can be used to generate data.</a:t>
            </a:r>
          </a:p>
          <a:p>
            <a:pPr algn="just">
              <a:buFont typeface="Wingdings" panose="05000000000000000000" pitchFamily="2" charset="2"/>
              <a:buChar char="q"/>
            </a:pPr>
            <a:r>
              <a:rPr lang="en-US" dirty="0"/>
              <a:t>In software systems, data may be created automatically by applications, such as system logs, transaction details, or user activity.</a:t>
            </a:r>
          </a:p>
          <a:p>
            <a:pPr algn="just">
              <a:buFont typeface="Wingdings" panose="05000000000000000000" pitchFamily="2" charset="2"/>
              <a:buChar char="q"/>
            </a:pPr>
            <a:r>
              <a:rPr lang="en-US" dirty="0"/>
              <a:t>The generated data may include </a:t>
            </a:r>
            <a:r>
              <a:rPr lang="en-US" b="1" dirty="0"/>
              <a:t>text, images, audio, video, or sensor readings</a:t>
            </a:r>
            <a:r>
              <a:rPr lang="en-US" dirty="0"/>
              <a:t>.</a:t>
            </a:r>
          </a:p>
          <a:p>
            <a:pPr algn="just"/>
            <a:endParaRPr lang="en-IN" dirty="0"/>
          </a:p>
        </p:txBody>
      </p:sp>
    </p:spTree>
    <p:extLst>
      <p:ext uri="{BB962C8B-B14F-4D97-AF65-F5344CB8AC3E}">
        <p14:creationId xmlns:p14="http://schemas.microsoft.com/office/powerpoint/2010/main" val="251056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C3664-19BA-0664-4A12-6123A8450EC1}"/>
              </a:ext>
            </a:extLst>
          </p:cNvPr>
          <p:cNvSpPr>
            <a:spLocks noGrp="1"/>
          </p:cNvSpPr>
          <p:nvPr>
            <p:ph type="title"/>
          </p:nvPr>
        </p:nvSpPr>
        <p:spPr/>
        <p:txBody>
          <a:bodyPr/>
          <a:lstStyle/>
          <a:p>
            <a:r>
              <a:rPr lang="en-IN" dirty="0"/>
              <a:t>Encoding and Formatting</a:t>
            </a:r>
          </a:p>
        </p:txBody>
      </p:sp>
      <p:sp>
        <p:nvSpPr>
          <p:cNvPr id="3" name="Content Placeholder 2">
            <a:extLst>
              <a:ext uri="{FF2B5EF4-FFF2-40B4-BE49-F238E27FC236}">
                <a16:creationId xmlns:a16="http://schemas.microsoft.com/office/drawing/2014/main" id="{0158664C-003E-E34D-A194-5219F0E70137}"/>
              </a:ext>
            </a:extLst>
          </p:cNvPr>
          <p:cNvSpPr>
            <a:spLocks noGrp="1"/>
          </p:cNvSpPr>
          <p:nvPr>
            <p:ph idx="1"/>
          </p:nvPr>
        </p:nvSpPr>
        <p:spPr>
          <a:xfrm>
            <a:off x="838200" y="1500027"/>
            <a:ext cx="10781872" cy="4992848"/>
          </a:xfrm>
        </p:spPr>
        <p:txBody>
          <a:bodyPr>
            <a:normAutofit fontScale="92500"/>
          </a:bodyPr>
          <a:lstStyle/>
          <a:p>
            <a:pPr algn="just"/>
            <a:r>
              <a:rPr lang="en-US" dirty="0"/>
              <a:t>Before data can be transmitted, it needs to be </a:t>
            </a:r>
            <a:r>
              <a:rPr lang="en-US" b="1" dirty="0"/>
              <a:t>converted into a suitable format</a:t>
            </a:r>
            <a:r>
              <a:rPr lang="en-US" dirty="0"/>
              <a:t> for communication over a specific medium.</a:t>
            </a:r>
          </a:p>
          <a:p>
            <a:pPr algn="just">
              <a:buFont typeface="Wingdings" panose="05000000000000000000" pitchFamily="2" charset="2"/>
              <a:buChar char="q"/>
            </a:pPr>
            <a:r>
              <a:rPr lang="en-US" b="1" dirty="0"/>
              <a:t>Encoding</a:t>
            </a:r>
            <a:r>
              <a:rPr lang="en-US" dirty="0"/>
              <a:t> refers to converting the data into signals — either </a:t>
            </a:r>
            <a:r>
              <a:rPr lang="en-US" b="1" dirty="0"/>
              <a:t>analog</a:t>
            </a:r>
            <a:r>
              <a:rPr lang="en-US" dirty="0"/>
              <a:t> (continuous) or </a:t>
            </a:r>
            <a:r>
              <a:rPr lang="en-US" b="1" dirty="0"/>
              <a:t>digital</a:t>
            </a:r>
            <a:r>
              <a:rPr lang="en-US" dirty="0"/>
              <a:t> (discrete binary).</a:t>
            </a:r>
          </a:p>
          <a:p>
            <a:pPr algn="just">
              <a:buFont typeface="Wingdings" panose="05000000000000000000" pitchFamily="2" charset="2"/>
              <a:buChar char="q"/>
            </a:pPr>
            <a:r>
              <a:rPr lang="en-US" dirty="0"/>
              <a:t>For example:</a:t>
            </a:r>
          </a:p>
          <a:p>
            <a:pPr lvl="1" algn="just">
              <a:buFont typeface="Wingdings" panose="05000000000000000000" pitchFamily="2" charset="2"/>
              <a:buChar char="q"/>
            </a:pPr>
            <a:r>
              <a:rPr lang="en-US" dirty="0"/>
              <a:t>Text may be converted into </a:t>
            </a:r>
            <a:r>
              <a:rPr lang="en-US" b="1" dirty="0"/>
              <a:t>ASCII or Unicode</a:t>
            </a:r>
            <a:r>
              <a:rPr lang="en-US" dirty="0"/>
              <a:t>.</a:t>
            </a:r>
          </a:p>
          <a:p>
            <a:pPr lvl="1" algn="just">
              <a:buFont typeface="Wingdings" panose="05000000000000000000" pitchFamily="2" charset="2"/>
              <a:buChar char="q"/>
            </a:pPr>
            <a:r>
              <a:rPr lang="en-US" dirty="0"/>
              <a:t>Audio signals may be encoded using </a:t>
            </a:r>
            <a:r>
              <a:rPr lang="en-US" b="1" dirty="0"/>
              <a:t>MP3 or PCM</a:t>
            </a:r>
            <a:r>
              <a:rPr lang="en-US" dirty="0"/>
              <a:t>.</a:t>
            </a:r>
          </a:p>
          <a:p>
            <a:pPr lvl="1" algn="just">
              <a:buFont typeface="Wingdings" panose="05000000000000000000" pitchFamily="2" charset="2"/>
              <a:buChar char="q"/>
            </a:pPr>
            <a:r>
              <a:rPr lang="en-US" dirty="0"/>
              <a:t>Video may use </a:t>
            </a:r>
            <a:r>
              <a:rPr lang="en-US" b="1" dirty="0"/>
              <a:t>H.264 or MPEG</a:t>
            </a:r>
            <a:r>
              <a:rPr lang="en-US" dirty="0"/>
              <a:t> formats.</a:t>
            </a:r>
          </a:p>
          <a:p>
            <a:pPr algn="just">
              <a:buFont typeface="Wingdings" panose="05000000000000000000" pitchFamily="2" charset="2"/>
              <a:buChar char="q"/>
            </a:pPr>
            <a:r>
              <a:rPr lang="en-US" b="1" dirty="0"/>
              <a:t>Formatting</a:t>
            </a:r>
            <a:r>
              <a:rPr lang="en-US" dirty="0"/>
              <a:t> involves structuring the data using communication </a:t>
            </a:r>
            <a:r>
              <a:rPr lang="en-US" b="1" dirty="0"/>
              <a:t>protocols</a:t>
            </a:r>
            <a:r>
              <a:rPr lang="en-US" dirty="0"/>
              <a:t> (such as HTTP, TCP/IP, FTP) to ensure compatibility and consistency between sender and receiver.</a:t>
            </a:r>
          </a:p>
          <a:p>
            <a:pPr algn="just">
              <a:buFont typeface="Wingdings" panose="05000000000000000000" pitchFamily="2" charset="2"/>
              <a:buChar char="q"/>
            </a:pPr>
            <a:r>
              <a:rPr lang="en-US" dirty="0"/>
              <a:t>Error detection and correction codes may also be added during this step.</a:t>
            </a:r>
          </a:p>
          <a:p>
            <a:pPr algn="just"/>
            <a:endParaRPr lang="en-IN" dirty="0"/>
          </a:p>
        </p:txBody>
      </p:sp>
    </p:spTree>
    <p:extLst>
      <p:ext uri="{BB962C8B-B14F-4D97-AF65-F5344CB8AC3E}">
        <p14:creationId xmlns:p14="http://schemas.microsoft.com/office/powerpoint/2010/main" val="1736123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E51CF-6F11-95B5-5921-C564972D4A47}"/>
              </a:ext>
            </a:extLst>
          </p:cNvPr>
          <p:cNvSpPr>
            <a:spLocks noGrp="1"/>
          </p:cNvSpPr>
          <p:nvPr>
            <p:ph type="title"/>
          </p:nvPr>
        </p:nvSpPr>
        <p:spPr/>
        <p:txBody>
          <a:bodyPr/>
          <a:lstStyle/>
          <a:p>
            <a:r>
              <a:rPr lang="en-IN" dirty="0"/>
              <a:t>Transmission</a:t>
            </a:r>
          </a:p>
        </p:txBody>
      </p:sp>
      <p:sp>
        <p:nvSpPr>
          <p:cNvPr id="3" name="Content Placeholder 2">
            <a:extLst>
              <a:ext uri="{FF2B5EF4-FFF2-40B4-BE49-F238E27FC236}">
                <a16:creationId xmlns:a16="http://schemas.microsoft.com/office/drawing/2014/main" id="{2D072D2E-0F9B-855A-5646-825BF4DEFFBA}"/>
              </a:ext>
            </a:extLst>
          </p:cNvPr>
          <p:cNvSpPr>
            <a:spLocks noGrp="1"/>
          </p:cNvSpPr>
          <p:nvPr>
            <p:ph idx="1"/>
          </p:nvPr>
        </p:nvSpPr>
        <p:spPr/>
        <p:txBody>
          <a:bodyPr>
            <a:normAutofit lnSpcReduction="10000"/>
          </a:bodyPr>
          <a:lstStyle/>
          <a:p>
            <a:r>
              <a:rPr lang="en-US" dirty="0"/>
              <a:t>Once the data is encoded and formatted, it is </a:t>
            </a:r>
            <a:r>
              <a:rPr lang="en-US" b="1" dirty="0"/>
              <a:t>transmitted</a:t>
            </a:r>
            <a:r>
              <a:rPr lang="en-US" dirty="0"/>
              <a:t> over a communication channel to the receiver.</a:t>
            </a:r>
          </a:p>
          <a:p>
            <a:pPr algn="just">
              <a:buFont typeface="Wingdings" panose="05000000000000000000" pitchFamily="2" charset="2"/>
              <a:buChar char="q"/>
            </a:pPr>
            <a:r>
              <a:rPr lang="en-US" dirty="0"/>
              <a:t>The medium can be </a:t>
            </a:r>
            <a:r>
              <a:rPr lang="en-US" b="1" dirty="0"/>
              <a:t>wired</a:t>
            </a:r>
            <a:r>
              <a:rPr lang="en-US" dirty="0"/>
              <a:t> (like coaxial cable, twisted pair, fiber optics) or </a:t>
            </a:r>
            <a:r>
              <a:rPr lang="en-US" b="1" dirty="0"/>
              <a:t>wireless</a:t>
            </a:r>
            <a:r>
              <a:rPr lang="en-US" dirty="0"/>
              <a:t> (like radio waves, Wi-Fi, infrared).</a:t>
            </a:r>
          </a:p>
          <a:p>
            <a:pPr algn="just">
              <a:buFont typeface="Wingdings" panose="05000000000000000000" pitchFamily="2" charset="2"/>
              <a:buChar char="q"/>
            </a:pPr>
            <a:r>
              <a:rPr lang="en-US" dirty="0"/>
              <a:t>Devices such as </a:t>
            </a:r>
            <a:r>
              <a:rPr lang="en-US" b="1" dirty="0"/>
              <a:t>modems, routers, or transceivers</a:t>
            </a:r>
            <a:r>
              <a:rPr lang="en-US" dirty="0"/>
              <a:t> may assist in the transmission process.</a:t>
            </a:r>
          </a:p>
          <a:p>
            <a:pPr algn="just">
              <a:buFont typeface="Wingdings" panose="05000000000000000000" pitchFamily="2" charset="2"/>
              <a:buChar char="q"/>
            </a:pPr>
            <a:r>
              <a:rPr lang="en-US" dirty="0"/>
              <a:t>The transmission is often done in </a:t>
            </a:r>
            <a:r>
              <a:rPr lang="en-US" b="1" dirty="0"/>
              <a:t>packets</a:t>
            </a:r>
            <a:r>
              <a:rPr lang="en-US" dirty="0"/>
              <a:t> in digital communication, where large messages are split into smaller units.</a:t>
            </a:r>
          </a:p>
          <a:p>
            <a:pPr algn="just">
              <a:buFont typeface="Wingdings" panose="05000000000000000000" pitchFamily="2" charset="2"/>
              <a:buChar char="q"/>
            </a:pPr>
            <a:r>
              <a:rPr lang="en-US" dirty="0"/>
              <a:t>The data signal can be affected by </a:t>
            </a:r>
            <a:r>
              <a:rPr lang="en-US" b="1" dirty="0"/>
              <a:t>noise, interference, attenuation</a:t>
            </a:r>
            <a:r>
              <a:rPr lang="en-US" dirty="0"/>
              <a:t>, and other physical disturbances during this step.</a:t>
            </a:r>
          </a:p>
          <a:p>
            <a:endParaRPr lang="en-IN" dirty="0"/>
          </a:p>
        </p:txBody>
      </p:sp>
    </p:spTree>
    <p:extLst>
      <p:ext uri="{BB962C8B-B14F-4D97-AF65-F5344CB8AC3E}">
        <p14:creationId xmlns:p14="http://schemas.microsoft.com/office/powerpoint/2010/main" val="292458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2F69A-4533-0A4D-C53B-695AF0DF22CB}"/>
              </a:ext>
            </a:extLst>
          </p:cNvPr>
          <p:cNvSpPr>
            <a:spLocks noGrp="1"/>
          </p:cNvSpPr>
          <p:nvPr>
            <p:ph type="title"/>
          </p:nvPr>
        </p:nvSpPr>
        <p:spPr/>
        <p:txBody>
          <a:bodyPr/>
          <a:lstStyle/>
          <a:p>
            <a:r>
              <a:rPr lang="en-US" b="1" dirty="0"/>
              <a:t>Reception</a:t>
            </a:r>
            <a:br>
              <a:rPr lang="en-US" b="1" dirty="0"/>
            </a:br>
            <a:endParaRPr lang="en-IN" dirty="0"/>
          </a:p>
        </p:txBody>
      </p:sp>
      <p:sp>
        <p:nvSpPr>
          <p:cNvPr id="3" name="Content Placeholder 2">
            <a:extLst>
              <a:ext uri="{FF2B5EF4-FFF2-40B4-BE49-F238E27FC236}">
                <a16:creationId xmlns:a16="http://schemas.microsoft.com/office/drawing/2014/main" id="{1074A20E-BAA6-BC1E-C4F9-15314A97A2D7}"/>
              </a:ext>
            </a:extLst>
          </p:cNvPr>
          <p:cNvSpPr>
            <a:spLocks noGrp="1"/>
          </p:cNvSpPr>
          <p:nvPr>
            <p:ph idx="1"/>
          </p:nvPr>
        </p:nvSpPr>
        <p:spPr/>
        <p:txBody>
          <a:bodyPr>
            <a:normAutofit/>
          </a:bodyPr>
          <a:lstStyle/>
          <a:p>
            <a:r>
              <a:rPr lang="en-US" dirty="0"/>
              <a:t>In this stage, the </a:t>
            </a:r>
            <a:r>
              <a:rPr lang="en-US" b="1" dirty="0"/>
              <a:t>receiver device accepts the transmitted signal</a:t>
            </a:r>
            <a:r>
              <a:rPr lang="en-US" dirty="0"/>
              <a:t> from the medium.</a:t>
            </a:r>
          </a:p>
          <a:p>
            <a:pPr algn="just">
              <a:buFont typeface="Wingdings" panose="05000000000000000000" pitchFamily="2" charset="2"/>
              <a:buChar char="q"/>
            </a:pPr>
            <a:r>
              <a:rPr lang="en-US" dirty="0"/>
              <a:t>The receiver must be </a:t>
            </a:r>
            <a:r>
              <a:rPr lang="en-US" b="1" dirty="0"/>
              <a:t>compatible with the transmission technology</a:t>
            </a:r>
            <a:r>
              <a:rPr lang="en-US" dirty="0"/>
              <a:t> and protocol used.</a:t>
            </a:r>
          </a:p>
          <a:p>
            <a:pPr algn="just">
              <a:buFont typeface="Wingdings" panose="05000000000000000000" pitchFamily="2" charset="2"/>
              <a:buChar char="q"/>
            </a:pPr>
            <a:r>
              <a:rPr lang="en-US" dirty="0"/>
              <a:t>It receives the incoming signals and begins processing them.</a:t>
            </a:r>
          </a:p>
          <a:p>
            <a:pPr algn="just">
              <a:buFont typeface="Wingdings" panose="05000000000000000000" pitchFamily="2" charset="2"/>
              <a:buChar char="q"/>
            </a:pPr>
            <a:r>
              <a:rPr lang="en-US" dirty="0"/>
              <a:t>If the signal is strong and properly formatted, reception is successful.</a:t>
            </a:r>
          </a:p>
          <a:p>
            <a:pPr algn="just">
              <a:buFont typeface="Wingdings" panose="05000000000000000000" pitchFamily="2" charset="2"/>
              <a:buChar char="q"/>
            </a:pPr>
            <a:r>
              <a:rPr lang="en-US" dirty="0"/>
              <a:t>If the signal is weak or corrupted, the receiver might request </a:t>
            </a:r>
            <a:r>
              <a:rPr lang="en-US" b="1" dirty="0"/>
              <a:t>retransmission</a:t>
            </a:r>
            <a:r>
              <a:rPr lang="en-US" dirty="0"/>
              <a:t> or </a:t>
            </a:r>
            <a:r>
              <a:rPr lang="en-US" b="1" dirty="0"/>
              <a:t>discard the message</a:t>
            </a:r>
            <a:r>
              <a:rPr lang="en-US" dirty="0"/>
              <a:t> depending on the protocol.</a:t>
            </a:r>
          </a:p>
          <a:p>
            <a:endParaRPr lang="en-IN" dirty="0"/>
          </a:p>
        </p:txBody>
      </p:sp>
    </p:spTree>
    <p:extLst>
      <p:ext uri="{BB962C8B-B14F-4D97-AF65-F5344CB8AC3E}">
        <p14:creationId xmlns:p14="http://schemas.microsoft.com/office/powerpoint/2010/main" val="11337767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3D07D-B65E-DE47-6C57-C65F4A20BC00}"/>
              </a:ext>
            </a:extLst>
          </p:cNvPr>
          <p:cNvSpPr>
            <a:spLocks noGrp="1"/>
          </p:cNvSpPr>
          <p:nvPr>
            <p:ph type="title"/>
          </p:nvPr>
        </p:nvSpPr>
        <p:spPr/>
        <p:txBody>
          <a:bodyPr/>
          <a:lstStyle/>
          <a:p>
            <a:r>
              <a:rPr lang="en-US" b="1" dirty="0"/>
              <a:t>Decoding and Interpretation</a:t>
            </a:r>
            <a:br>
              <a:rPr lang="en-US" b="1" dirty="0"/>
            </a:br>
            <a:endParaRPr lang="en-IN" dirty="0"/>
          </a:p>
        </p:txBody>
      </p:sp>
      <p:sp>
        <p:nvSpPr>
          <p:cNvPr id="3" name="Content Placeholder 2">
            <a:extLst>
              <a:ext uri="{FF2B5EF4-FFF2-40B4-BE49-F238E27FC236}">
                <a16:creationId xmlns:a16="http://schemas.microsoft.com/office/drawing/2014/main" id="{96003159-7110-7849-1072-4BF9A76D6C86}"/>
              </a:ext>
            </a:extLst>
          </p:cNvPr>
          <p:cNvSpPr>
            <a:spLocks noGrp="1"/>
          </p:cNvSpPr>
          <p:nvPr>
            <p:ph idx="1"/>
          </p:nvPr>
        </p:nvSpPr>
        <p:spPr>
          <a:xfrm>
            <a:off x="838200" y="1294543"/>
            <a:ext cx="10515600" cy="5034338"/>
          </a:xfrm>
        </p:spPr>
        <p:txBody>
          <a:bodyPr>
            <a:normAutofit/>
          </a:bodyPr>
          <a:lstStyle/>
          <a:p>
            <a:pPr algn="just"/>
            <a:r>
              <a:rPr lang="en-US" dirty="0"/>
              <a:t>After receiving the signal, the receiver must </a:t>
            </a:r>
            <a:r>
              <a:rPr lang="en-US" b="1" dirty="0"/>
              <a:t>convert it back to its original form</a:t>
            </a:r>
            <a:r>
              <a:rPr lang="en-US" dirty="0"/>
              <a:t> so it can be understood and used.</a:t>
            </a:r>
          </a:p>
          <a:p>
            <a:pPr algn="just">
              <a:buFont typeface="Wingdings" panose="05000000000000000000" pitchFamily="2" charset="2"/>
              <a:buChar char="q"/>
            </a:pPr>
            <a:r>
              <a:rPr lang="en-US" b="1" dirty="0"/>
              <a:t>Decoding</a:t>
            </a:r>
            <a:r>
              <a:rPr lang="en-US" dirty="0"/>
              <a:t> is the reverse of encoding. For example, binary data is converted back to text or audio format.</a:t>
            </a:r>
          </a:p>
          <a:p>
            <a:pPr algn="just">
              <a:buFont typeface="Wingdings" panose="05000000000000000000" pitchFamily="2" charset="2"/>
              <a:buChar char="q"/>
            </a:pPr>
            <a:r>
              <a:rPr lang="en-US" dirty="0"/>
              <a:t>The structure and meaning of the data are interpreted according to the </a:t>
            </a:r>
            <a:r>
              <a:rPr lang="en-US" b="1" dirty="0"/>
              <a:t>communication protocol</a:t>
            </a:r>
            <a:r>
              <a:rPr lang="en-US" dirty="0"/>
              <a:t> used.</a:t>
            </a:r>
          </a:p>
          <a:p>
            <a:pPr algn="just">
              <a:buFont typeface="Wingdings" panose="05000000000000000000" pitchFamily="2" charset="2"/>
              <a:buChar char="q"/>
            </a:pPr>
            <a:r>
              <a:rPr lang="en-US" dirty="0"/>
              <a:t>The decoded data is presented to the user via </a:t>
            </a:r>
            <a:r>
              <a:rPr lang="en-US" b="1" dirty="0"/>
              <a:t>output devices</a:t>
            </a:r>
            <a:r>
              <a:rPr lang="en-US" dirty="0"/>
              <a:t> (e.g., screen, speaker, printer) or stored for later use.</a:t>
            </a:r>
          </a:p>
          <a:p>
            <a:pPr algn="just">
              <a:buFont typeface="Wingdings" panose="05000000000000000000" pitchFamily="2" charset="2"/>
              <a:buChar char="q"/>
            </a:pPr>
            <a:r>
              <a:rPr lang="en-US" dirty="0"/>
              <a:t>Errors detected during decoding can trigger </a:t>
            </a:r>
            <a:r>
              <a:rPr lang="en-US" b="1" dirty="0"/>
              <a:t>correction mechanisms</a:t>
            </a:r>
            <a:r>
              <a:rPr lang="en-US" dirty="0"/>
              <a:t> if supported.</a:t>
            </a:r>
          </a:p>
          <a:p>
            <a:pPr algn="just"/>
            <a:endParaRPr lang="en-IN" dirty="0"/>
          </a:p>
        </p:txBody>
      </p:sp>
    </p:spTree>
    <p:extLst>
      <p:ext uri="{BB962C8B-B14F-4D97-AF65-F5344CB8AC3E}">
        <p14:creationId xmlns:p14="http://schemas.microsoft.com/office/powerpoint/2010/main" val="12186224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888CB-C19E-6B46-BFA2-4348E965AC82}"/>
              </a:ext>
            </a:extLst>
          </p:cNvPr>
          <p:cNvSpPr>
            <a:spLocks noGrp="1"/>
          </p:cNvSpPr>
          <p:nvPr>
            <p:ph type="title"/>
          </p:nvPr>
        </p:nvSpPr>
        <p:spPr/>
        <p:txBody>
          <a:bodyPr/>
          <a:lstStyle/>
          <a:p>
            <a:r>
              <a:rPr lang="en-US" b="1" dirty="0"/>
              <a:t>Acknowledgment and Feedback</a:t>
            </a:r>
            <a:br>
              <a:rPr lang="en-US" b="1" dirty="0"/>
            </a:br>
            <a:endParaRPr lang="en-IN" dirty="0"/>
          </a:p>
        </p:txBody>
      </p:sp>
      <p:sp>
        <p:nvSpPr>
          <p:cNvPr id="3" name="Content Placeholder 2">
            <a:extLst>
              <a:ext uri="{FF2B5EF4-FFF2-40B4-BE49-F238E27FC236}">
                <a16:creationId xmlns:a16="http://schemas.microsoft.com/office/drawing/2014/main" id="{8C443435-1ADA-EB43-4D04-E2A2CA3FD38E}"/>
              </a:ext>
            </a:extLst>
          </p:cNvPr>
          <p:cNvSpPr>
            <a:spLocks noGrp="1"/>
          </p:cNvSpPr>
          <p:nvPr>
            <p:ph idx="1"/>
          </p:nvPr>
        </p:nvSpPr>
        <p:spPr>
          <a:xfrm>
            <a:off x="838200" y="1191802"/>
            <a:ext cx="10515600" cy="4985161"/>
          </a:xfrm>
        </p:spPr>
        <p:txBody>
          <a:bodyPr>
            <a:normAutofit lnSpcReduction="10000"/>
          </a:bodyPr>
          <a:lstStyle/>
          <a:p>
            <a:pPr algn="just"/>
            <a:r>
              <a:rPr lang="en-US" dirty="0"/>
              <a:t>To ensure </a:t>
            </a:r>
            <a:r>
              <a:rPr lang="en-US" b="1" dirty="0"/>
              <a:t>reliable communication</a:t>
            </a:r>
            <a:r>
              <a:rPr lang="en-US" dirty="0"/>
              <a:t>, the receiver sends a signal back to the sender confirming successful receipt.</a:t>
            </a:r>
          </a:p>
          <a:p>
            <a:pPr algn="just">
              <a:buFont typeface="Wingdings" panose="05000000000000000000" pitchFamily="2" charset="2"/>
              <a:buChar char="q"/>
            </a:pPr>
            <a:r>
              <a:rPr lang="en-US" dirty="0"/>
              <a:t>The acknowledgment is usually a short message like </a:t>
            </a:r>
            <a:r>
              <a:rPr lang="en-US" b="1" dirty="0"/>
              <a:t>ACK</a:t>
            </a:r>
            <a:r>
              <a:rPr lang="en-US" dirty="0"/>
              <a:t> (Acknowledged) or </a:t>
            </a:r>
            <a:r>
              <a:rPr lang="en-US" b="1" dirty="0"/>
              <a:t>NACK</a:t>
            </a:r>
            <a:r>
              <a:rPr lang="en-US" dirty="0"/>
              <a:t> (Not Acknowledged).</a:t>
            </a:r>
          </a:p>
          <a:p>
            <a:pPr algn="just">
              <a:buFont typeface="Wingdings" panose="05000000000000000000" pitchFamily="2" charset="2"/>
              <a:buChar char="q"/>
            </a:pPr>
            <a:r>
              <a:rPr lang="en-US" dirty="0"/>
              <a:t>This is common in </a:t>
            </a:r>
            <a:r>
              <a:rPr lang="en-US" b="1" dirty="0"/>
              <a:t>reliable communication protocols</a:t>
            </a:r>
            <a:r>
              <a:rPr lang="en-US" dirty="0"/>
              <a:t> like TCP.</a:t>
            </a:r>
          </a:p>
          <a:p>
            <a:pPr algn="just">
              <a:buFont typeface="Wingdings" panose="05000000000000000000" pitchFamily="2" charset="2"/>
              <a:buChar char="q"/>
            </a:pPr>
            <a:r>
              <a:rPr lang="en-US" dirty="0"/>
              <a:t>If the sender does not receive an acknowledgment within a certain time, it may </a:t>
            </a:r>
            <a:r>
              <a:rPr lang="en-US" b="1" dirty="0"/>
              <a:t>retransmit the message</a:t>
            </a:r>
            <a:r>
              <a:rPr lang="en-US" dirty="0"/>
              <a:t>.</a:t>
            </a:r>
          </a:p>
          <a:p>
            <a:pPr algn="just">
              <a:buFont typeface="Wingdings" panose="05000000000000000000" pitchFamily="2" charset="2"/>
              <a:buChar char="q"/>
            </a:pPr>
            <a:r>
              <a:rPr lang="en-US" dirty="0"/>
              <a:t>In interactive systems (like messaging apps or online calls), feedback may also include </a:t>
            </a:r>
            <a:r>
              <a:rPr lang="en-US" b="1" dirty="0"/>
              <a:t>live status</a:t>
            </a:r>
            <a:r>
              <a:rPr lang="en-US" dirty="0"/>
              <a:t> updates like "Seen", "Typing", or "Delivered".</a:t>
            </a:r>
          </a:p>
          <a:p>
            <a:pPr algn="just">
              <a:buFont typeface="Wingdings" panose="05000000000000000000" pitchFamily="2" charset="2"/>
              <a:buChar char="q"/>
            </a:pPr>
            <a:r>
              <a:rPr lang="en-US" dirty="0"/>
              <a:t>This step ensures </a:t>
            </a:r>
            <a:r>
              <a:rPr lang="en-US" b="1" dirty="0"/>
              <a:t>data integrity</a:t>
            </a:r>
            <a:r>
              <a:rPr lang="en-US" dirty="0"/>
              <a:t> and enables </a:t>
            </a:r>
            <a:r>
              <a:rPr lang="en-US" b="1" dirty="0"/>
              <a:t>error recovery</a:t>
            </a:r>
            <a:r>
              <a:rPr lang="en-US" dirty="0"/>
              <a:t> in case of transmission failure.</a:t>
            </a:r>
          </a:p>
          <a:p>
            <a:pPr algn="just"/>
            <a:endParaRPr lang="en-IN" dirty="0"/>
          </a:p>
        </p:txBody>
      </p:sp>
    </p:spTree>
    <p:extLst>
      <p:ext uri="{BB962C8B-B14F-4D97-AF65-F5344CB8AC3E}">
        <p14:creationId xmlns:p14="http://schemas.microsoft.com/office/powerpoint/2010/main" val="40447621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F965E-12BB-2322-7C20-682CE4D1F8F5}"/>
              </a:ext>
            </a:extLst>
          </p:cNvPr>
          <p:cNvSpPr>
            <a:spLocks noGrp="1"/>
          </p:cNvSpPr>
          <p:nvPr>
            <p:ph type="title"/>
          </p:nvPr>
        </p:nvSpPr>
        <p:spPr>
          <a:xfrm>
            <a:off x="838200" y="365126"/>
            <a:ext cx="10515600" cy="867774"/>
          </a:xfrm>
        </p:spPr>
        <p:txBody>
          <a:bodyPr>
            <a:normAutofit fontScale="90000"/>
          </a:bodyPr>
          <a:lstStyle/>
          <a:p>
            <a:r>
              <a:rPr lang="en-IN" dirty="0"/>
              <a:t>1.4 </a:t>
            </a:r>
            <a:r>
              <a:rPr lang="en-US" dirty="0"/>
              <a:t>Components of communication media</a:t>
            </a:r>
            <a:br>
              <a:rPr lang="en-US" dirty="0"/>
            </a:br>
            <a:endParaRPr lang="en-IN" dirty="0"/>
          </a:p>
        </p:txBody>
      </p:sp>
      <p:sp>
        <p:nvSpPr>
          <p:cNvPr id="3" name="Content Placeholder 2">
            <a:extLst>
              <a:ext uri="{FF2B5EF4-FFF2-40B4-BE49-F238E27FC236}">
                <a16:creationId xmlns:a16="http://schemas.microsoft.com/office/drawing/2014/main" id="{336C1BC1-DEAD-9156-03ED-09F5916964E7}"/>
              </a:ext>
            </a:extLst>
          </p:cNvPr>
          <p:cNvSpPr>
            <a:spLocks noGrp="1"/>
          </p:cNvSpPr>
          <p:nvPr>
            <p:ph idx="1"/>
          </p:nvPr>
        </p:nvSpPr>
        <p:spPr>
          <a:xfrm>
            <a:off x="838200" y="1160980"/>
            <a:ext cx="10515600" cy="5015983"/>
          </a:xfrm>
        </p:spPr>
        <p:txBody>
          <a:bodyPr/>
          <a:lstStyle/>
          <a:p>
            <a:pPr marL="0" indent="0" algn="just">
              <a:buNone/>
            </a:pPr>
            <a:r>
              <a:rPr lang="en-US" dirty="0"/>
              <a:t>The diagram you've shared illustrates the </a:t>
            </a:r>
            <a:r>
              <a:rPr lang="en-US" b="1" dirty="0"/>
              <a:t>Components of Communication Media</a:t>
            </a:r>
            <a:r>
              <a:rPr lang="en-US" dirty="0"/>
              <a:t> in the </a:t>
            </a:r>
            <a:r>
              <a:rPr lang="en-US" b="1" dirty="0"/>
              <a:t>data communication process</a:t>
            </a:r>
            <a:r>
              <a:rPr lang="en-US" dirty="0"/>
              <a:t>. Here's an explanation of each component typically represented in such models</a:t>
            </a:r>
            <a:r>
              <a:rPr lang="en-US" dirty="0" smtClean="0"/>
              <a:t>:</a:t>
            </a:r>
          </a:p>
          <a:p>
            <a:pPr marL="0" indent="0" algn="just">
              <a:buNone/>
            </a:pPr>
            <a:endParaRPr lang="en-US" dirty="0"/>
          </a:p>
          <a:p>
            <a:pPr marL="0" indent="0" algn="just">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56692" y="2579077"/>
            <a:ext cx="7295163" cy="4114800"/>
          </a:xfrm>
          <a:prstGeom prst="rect">
            <a:avLst/>
          </a:prstGeom>
        </p:spPr>
      </p:pic>
    </p:spTree>
    <p:extLst>
      <p:ext uri="{BB962C8B-B14F-4D97-AF65-F5344CB8AC3E}">
        <p14:creationId xmlns:p14="http://schemas.microsoft.com/office/powerpoint/2010/main" val="64761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FD1A8-214D-6867-32D0-2039929F798E}"/>
              </a:ext>
            </a:extLst>
          </p:cNvPr>
          <p:cNvSpPr>
            <a:spLocks noGrp="1"/>
          </p:cNvSpPr>
          <p:nvPr>
            <p:ph type="title"/>
          </p:nvPr>
        </p:nvSpPr>
        <p:spPr>
          <a:xfrm>
            <a:off x="838200" y="365125"/>
            <a:ext cx="10515600" cy="795855"/>
          </a:xfrm>
        </p:spPr>
        <p:txBody>
          <a:bodyPr>
            <a:normAutofit fontScale="90000"/>
          </a:bodyPr>
          <a:lstStyle/>
          <a:p>
            <a:r>
              <a:rPr lang="en-US" b="1" dirty="0"/>
              <a:t>1. Source (Sender)</a:t>
            </a:r>
            <a:br>
              <a:rPr lang="en-US" b="1" dirty="0"/>
            </a:br>
            <a:endParaRPr lang="en-IN" dirty="0"/>
          </a:p>
        </p:txBody>
      </p:sp>
      <p:sp>
        <p:nvSpPr>
          <p:cNvPr id="3" name="Content Placeholder 2">
            <a:extLst>
              <a:ext uri="{FF2B5EF4-FFF2-40B4-BE49-F238E27FC236}">
                <a16:creationId xmlns:a16="http://schemas.microsoft.com/office/drawing/2014/main" id="{4FD59211-C436-4BF9-D7D7-FD83F0E23A10}"/>
              </a:ext>
            </a:extLst>
          </p:cNvPr>
          <p:cNvSpPr>
            <a:spLocks noGrp="1"/>
          </p:cNvSpPr>
          <p:nvPr>
            <p:ph idx="1"/>
          </p:nvPr>
        </p:nvSpPr>
        <p:spPr>
          <a:xfrm>
            <a:off x="838200" y="1160980"/>
            <a:ext cx="10515600" cy="5116530"/>
          </a:xfrm>
        </p:spPr>
        <p:txBody>
          <a:bodyPr>
            <a:normAutofit/>
          </a:bodyPr>
          <a:lstStyle/>
          <a:p>
            <a:pPr algn="just"/>
            <a:r>
              <a:rPr lang="en-US" dirty="0"/>
              <a:t>The </a:t>
            </a:r>
            <a:r>
              <a:rPr lang="en-US" b="1" dirty="0"/>
              <a:t>source</a:t>
            </a:r>
            <a:r>
              <a:rPr lang="en-US" dirty="0"/>
              <a:t> is the originator of the message. It could be a person, group, or system that has information, feelings, or thoughts to communicate.</a:t>
            </a:r>
          </a:p>
          <a:p>
            <a:pPr marL="0" indent="0" algn="just">
              <a:buNone/>
            </a:pPr>
            <a:r>
              <a:rPr lang="en-US" b="1" dirty="0"/>
              <a:t>Functions:</a:t>
            </a:r>
          </a:p>
          <a:p>
            <a:pPr algn="just">
              <a:buFont typeface="Wingdings" panose="05000000000000000000" pitchFamily="2" charset="2"/>
              <a:buChar char="q"/>
            </a:pPr>
            <a:r>
              <a:rPr lang="en-US" dirty="0"/>
              <a:t>Initiates the communication.</a:t>
            </a:r>
          </a:p>
          <a:p>
            <a:pPr algn="just">
              <a:buFont typeface="Wingdings" panose="05000000000000000000" pitchFamily="2" charset="2"/>
              <a:buChar char="q"/>
            </a:pPr>
            <a:r>
              <a:rPr lang="en-US" dirty="0"/>
              <a:t>Encodes the message (chooses how to express it).</a:t>
            </a:r>
          </a:p>
          <a:p>
            <a:pPr algn="just">
              <a:buFont typeface="Wingdings" panose="05000000000000000000" pitchFamily="2" charset="2"/>
              <a:buChar char="q"/>
            </a:pPr>
            <a:r>
              <a:rPr lang="en-US" dirty="0"/>
              <a:t>Decides the purpose and content of the communication.</a:t>
            </a:r>
          </a:p>
          <a:p>
            <a:pPr marL="0" indent="0" algn="just">
              <a:buNone/>
            </a:pPr>
            <a:r>
              <a:rPr lang="en-US" b="1" dirty="0"/>
              <a:t>Example:</a:t>
            </a:r>
          </a:p>
          <a:p>
            <a:pPr algn="just"/>
            <a:r>
              <a:rPr lang="en-US" dirty="0"/>
              <a:t>A teacher explaining a concept.</a:t>
            </a:r>
          </a:p>
          <a:p>
            <a:pPr algn="just"/>
            <a:r>
              <a:rPr lang="en-US" dirty="0"/>
              <a:t>A server sending data to a client.</a:t>
            </a:r>
          </a:p>
          <a:p>
            <a:pPr algn="just"/>
            <a:endParaRPr lang="en-IN" dirty="0"/>
          </a:p>
        </p:txBody>
      </p:sp>
    </p:spTree>
    <p:extLst>
      <p:ext uri="{BB962C8B-B14F-4D97-AF65-F5344CB8AC3E}">
        <p14:creationId xmlns:p14="http://schemas.microsoft.com/office/powerpoint/2010/main" val="34832843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071B4-A557-7883-1F8C-72592194D83F}"/>
              </a:ext>
            </a:extLst>
          </p:cNvPr>
          <p:cNvSpPr>
            <a:spLocks noGrp="1"/>
          </p:cNvSpPr>
          <p:nvPr>
            <p:ph type="title"/>
          </p:nvPr>
        </p:nvSpPr>
        <p:spPr/>
        <p:txBody>
          <a:bodyPr/>
          <a:lstStyle/>
          <a:p>
            <a:r>
              <a:rPr lang="en-US" b="1" dirty="0"/>
              <a:t>2. Message</a:t>
            </a:r>
            <a:br>
              <a:rPr lang="en-US" b="1" dirty="0"/>
            </a:br>
            <a:endParaRPr lang="en-IN" dirty="0"/>
          </a:p>
        </p:txBody>
      </p:sp>
      <p:sp>
        <p:nvSpPr>
          <p:cNvPr id="3" name="Content Placeholder 2">
            <a:extLst>
              <a:ext uri="{FF2B5EF4-FFF2-40B4-BE49-F238E27FC236}">
                <a16:creationId xmlns:a16="http://schemas.microsoft.com/office/drawing/2014/main" id="{2A2F777E-EE7F-597F-5FEC-467625AC9FCB}"/>
              </a:ext>
            </a:extLst>
          </p:cNvPr>
          <p:cNvSpPr>
            <a:spLocks noGrp="1"/>
          </p:cNvSpPr>
          <p:nvPr>
            <p:ph idx="1"/>
          </p:nvPr>
        </p:nvSpPr>
        <p:spPr>
          <a:xfrm>
            <a:off x="838199" y="1304818"/>
            <a:ext cx="11100371" cy="5188057"/>
          </a:xfrm>
        </p:spPr>
        <p:txBody>
          <a:bodyPr>
            <a:normAutofit/>
          </a:bodyPr>
          <a:lstStyle/>
          <a:p>
            <a:pPr algn="just"/>
            <a:r>
              <a:rPr lang="en-US" dirty="0"/>
              <a:t>The </a:t>
            </a:r>
            <a:r>
              <a:rPr lang="en-US" b="1" dirty="0"/>
              <a:t>message</a:t>
            </a:r>
            <a:r>
              <a:rPr lang="en-US" dirty="0"/>
              <a:t> is the actual content or information being conveyed from the sender to the receiver.</a:t>
            </a:r>
          </a:p>
          <a:p>
            <a:pPr marL="0" indent="0" algn="just">
              <a:buNone/>
            </a:pPr>
            <a:r>
              <a:rPr lang="en-US" b="1" dirty="0"/>
              <a:t>Forms:</a:t>
            </a:r>
          </a:p>
          <a:p>
            <a:pPr algn="just">
              <a:buFont typeface="Wingdings" panose="05000000000000000000" pitchFamily="2" charset="2"/>
              <a:buChar char="q"/>
            </a:pPr>
            <a:r>
              <a:rPr lang="en-US" b="1" dirty="0"/>
              <a:t>Verbal</a:t>
            </a:r>
            <a:r>
              <a:rPr lang="en-US" dirty="0"/>
              <a:t>: Spoken or written language.</a:t>
            </a:r>
          </a:p>
          <a:p>
            <a:pPr algn="just">
              <a:buFont typeface="Wingdings" panose="05000000000000000000" pitchFamily="2" charset="2"/>
              <a:buChar char="q"/>
            </a:pPr>
            <a:r>
              <a:rPr lang="en-US" b="1" dirty="0"/>
              <a:t>Non-verbal</a:t>
            </a:r>
            <a:r>
              <a:rPr lang="en-US" dirty="0"/>
              <a:t>: Gestures, body language, tone.</a:t>
            </a:r>
          </a:p>
          <a:p>
            <a:pPr algn="just">
              <a:buFont typeface="Wingdings" panose="05000000000000000000" pitchFamily="2" charset="2"/>
              <a:buChar char="q"/>
            </a:pPr>
            <a:r>
              <a:rPr lang="en-US" b="1" dirty="0"/>
              <a:t>Digital</a:t>
            </a:r>
            <a:r>
              <a:rPr lang="en-US" dirty="0"/>
              <a:t>: Files, emails, multimedia.</a:t>
            </a:r>
          </a:p>
          <a:p>
            <a:pPr algn="just"/>
            <a:r>
              <a:rPr lang="en-US" dirty="0"/>
              <a:t>Must be clear, concise, and well-structured.</a:t>
            </a:r>
          </a:p>
          <a:p>
            <a:pPr algn="just"/>
            <a:r>
              <a:rPr lang="en-US" dirty="0"/>
              <a:t>Can be influenced by the sender’s vocabulary, emotions, and cultural background.</a:t>
            </a:r>
          </a:p>
          <a:p>
            <a:pPr algn="just"/>
            <a:endParaRPr lang="en-IN" dirty="0"/>
          </a:p>
        </p:txBody>
      </p:sp>
    </p:spTree>
    <p:extLst>
      <p:ext uri="{BB962C8B-B14F-4D97-AF65-F5344CB8AC3E}">
        <p14:creationId xmlns:p14="http://schemas.microsoft.com/office/powerpoint/2010/main" val="9282969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8E279-C941-E802-58FE-02B4FA0274EC}"/>
              </a:ext>
            </a:extLst>
          </p:cNvPr>
          <p:cNvSpPr>
            <a:spLocks noGrp="1"/>
          </p:cNvSpPr>
          <p:nvPr>
            <p:ph type="title"/>
          </p:nvPr>
        </p:nvSpPr>
        <p:spPr/>
        <p:txBody>
          <a:bodyPr/>
          <a:lstStyle/>
          <a:p>
            <a:r>
              <a:rPr lang="en-US" b="1" dirty="0"/>
              <a:t>3. Channel</a:t>
            </a:r>
            <a:br>
              <a:rPr lang="en-US" b="1" dirty="0"/>
            </a:br>
            <a:endParaRPr lang="en-IN" dirty="0"/>
          </a:p>
        </p:txBody>
      </p:sp>
      <p:sp>
        <p:nvSpPr>
          <p:cNvPr id="3" name="Content Placeholder 2">
            <a:extLst>
              <a:ext uri="{FF2B5EF4-FFF2-40B4-BE49-F238E27FC236}">
                <a16:creationId xmlns:a16="http://schemas.microsoft.com/office/drawing/2014/main" id="{BA23E314-6DB6-883E-9672-DF270E9A5300}"/>
              </a:ext>
            </a:extLst>
          </p:cNvPr>
          <p:cNvSpPr>
            <a:spLocks noGrp="1"/>
          </p:cNvSpPr>
          <p:nvPr>
            <p:ph idx="1"/>
          </p:nvPr>
        </p:nvSpPr>
        <p:spPr>
          <a:xfrm>
            <a:off x="838199" y="1140430"/>
            <a:ext cx="10833243" cy="5537771"/>
          </a:xfrm>
        </p:spPr>
        <p:txBody>
          <a:bodyPr>
            <a:normAutofit/>
          </a:bodyPr>
          <a:lstStyle/>
          <a:p>
            <a:pPr algn="just"/>
            <a:r>
              <a:rPr lang="en-US" dirty="0"/>
              <a:t>The </a:t>
            </a:r>
            <a:r>
              <a:rPr lang="en-US" b="1" dirty="0"/>
              <a:t>channel</a:t>
            </a:r>
            <a:r>
              <a:rPr lang="en-US" dirty="0"/>
              <a:t> is the medium through which the message travels from sender to receiver.</a:t>
            </a:r>
          </a:p>
          <a:p>
            <a:pPr marL="0" indent="0" algn="just">
              <a:buNone/>
            </a:pPr>
            <a:r>
              <a:rPr lang="en-US" b="1" dirty="0"/>
              <a:t>Types:</a:t>
            </a:r>
          </a:p>
          <a:p>
            <a:pPr algn="just">
              <a:buFont typeface="Wingdings" panose="05000000000000000000" pitchFamily="2" charset="2"/>
              <a:buChar char="q"/>
            </a:pPr>
            <a:r>
              <a:rPr lang="en-US" b="1" dirty="0"/>
              <a:t>Physical</a:t>
            </a:r>
            <a:r>
              <a:rPr lang="en-US" dirty="0"/>
              <a:t>: Sound waves (speech), printed paper (letters), cables (network).</a:t>
            </a:r>
          </a:p>
          <a:p>
            <a:pPr algn="just">
              <a:buFont typeface="Wingdings" panose="05000000000000000000" pitchFamily="2" charset="2"/>
              <a:buChar char="q"/>
            </a:pPr>
            <a:r>
              <a:rPr lang="en-US" b="1" dirty="0"/>
              <a:t>Digital</a:t>
            </a:r>
            <a:r>
              <a:rPr lang="en-US" dirty="0"/>
              <a:t>: Email, social media, messaging apps.</a:t>
            </a:r>
          </a:p>
          <a:p>
            <a:pPr algn="just">
              <a:buFont typeface="Wingdings" panose="05000000000000000000" pitchFamily="2" charset="2"/>
              <a:buChar char="q"/>
            </a:pPr>
            <a:r>
              <a:rPr lang="en-US" b="1" dirty="0"/>
              <a:t>Visual</a:t>
            </a:r>
            <a:r>
              <a:rPr lang="en-US" dirty="0"/>
              <a:t>: Gestures, images, facial expressions.</a:t>
            </a:r>
          </a:p>
          <a:p>
            <a:pPr marL="0" indent="0" algn="just">
              <a:buNone/>
            </a:pPr>
            <a:r>
              <a:rPr lang="en-US" b="1" dirty="0"/>
              <a:t>Importance:</a:t>
            </a:r>
          </a:p>
          <a:p>
            <a:pPr algn="just"/>
            <a:r>
              <a:rPr lang="en-US" dirty="0"/>
              <a:t>The right channel ensures message delivery with minimal distortion.</a:t>
            </a:r>
          </a:p>
          <a:p>
            <a:pPr algn="just"/>
            <a:r>
              <a:rPr lang="en-US" dirty="0"/>
              <a:t>The effectiveness of communication often depends on the choice of channel.</a:t>
            </a:r>
          </a:p>
          <a:p>
            <a:pPr algn="just"/>
            <a:endParaRPr lang="en-IN" dirty="0"/>
          </a:p>
        </p:txBody>
      </p:sp>
    </p:spTree>
    <p:extLst>
      <p:ext uri="{BB962C8B-B14F-4D97-AF65-F5344CB8AC3E}">
        <p14:creationId xmlns:p14="http://schemas.microsoft.com/office/powerpoint/2010/main" val="5498497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01D66-279D-5269-C9B6-2F2F27EEAB3E}"/>
              </a:ext>
            </a:extLst>
          </p:cNvPr>
          <p:cNvSpPr>
            <a:spLocks noGrp="1"/>
          </p:cNvSpPr>
          <p:nvPr>
            <p:ph type="title"/>
          </p:nvPr>
        </p:nvSpPr>
        <p:spPr/>
        <p:txBody>
          <a:bodyPr/>
          <a:lstStyle/>
          <a:p>
            <a:r>
              <a:rPr lang="en-US" b="1" dirty="0"/>
              <a:t>4. Receiver</a:t>
            </a:r>
            <a:br>
              <a:rPr lang="en-US" b="1" dirty="0"/>
            </a:br>
            <a:endParaRPr lang="en-IN" dirty="0"/>
          </a:p>
        </p:txBody>
      </p:sp>
      <p:sp>
        <p:nvSpPr>
          <p:cNvPr id="3" name="Content Placeholder 2">
            <a:extLst>
              <a:ext uri="{FF2B5EF4-FFF2-40B4-BE49-F238E27FC236}">
                <a16:creationId xmlns:a16="http://schemas.microsoft.com/office/drawing/2014/main" id="{DA5BA33C-4DB8-03E6-8625-DAFAD9DBCDFE}"/>
              </a:ext>
            </a:extLst>
          </p:cNvPr>
          <p:cNvSpPr>
            <a:spLocks noGrp="1"/>
          </p:cNvSpPr>
          <p:nvPr>
            <p:ph idx="1"/>
          </p:nvPr>
        </p:nvSpPr>
        <p:spPr/>
        <p:txBody>
          <a:bodyPr>
            <a:normAutofit fontScale="92500" lnSpcReduction="10000"/>
          </a:bodyPr>
          <a:lstStyle/>
          <a:p>
            <a:pPr algn="just"/>
            <a:r>
              <a:rPr lang="en-US" dirty="0"/>
              <a:t>The </a:t>
            </a:r>
            <a:r>
              <a:rPr lang="en-US" b="1" dirty="0"/>
              <a:t>receiver</a:t>
            </a:r>
            <a:r>
              <a:rPr lang="en-US" dirty="0"/>
              <a:t> is the person or system that receives and interprets the message.</a:t>
            </a:r>
          </a:p>
          <a:p>
            <a:pPr marL="0" indent="0" algn="just">
              <a:buNone/>
            </a:pPr>
            <a:r>
              <a:rPr lang="en-US" b="1" dirty="0"/>
              <a:t>Functions:</a:t>
            </a:r>
          </a:p>
          <a:p>
            <a:pPr algn="just">
              <a:buFont typeface="Wingdings" panose="05000000000000000000" pitchFamily="2" charset="2"/>
              <a:buChar char="q"/>
            </a:pPr>
            <a:r>
              <a:rPr lang="en-US" b="1" dirty="0"/>
              <a:t>Decodes</a:t>
            </a:r>
            <a:r>
              <a:rPr lang="en-US" dirty="0"/>
              <a:t> or interprets the message based on knowledge, experience, and context.</a:t>
            </a:r>
          </a:p>
          <a:p>
            <a:pPr algn="just">
              <a:buFont typeface="Wingdings" panose="05000000000000000000" pitchFamily="2" charset="2"/>
              <a:buChar char="q"/>
            </a:pPr>
            <a:r>
              <a:rPr lang="en-US" dirty="0"/>
              <a:t>Forms a response or reaction.</a:t>
            </a:r>
          </a:p>
          <a:p>
            <a:pPr algn="just">
              <a:buFont typeface="Wingdings" panose="05000000000000000000" pitchFamily="2" charset="2"/>
              <a:buChar char="q"/>
            </a:pPr>
            <a:r>
              <a:rPr lang="en-US" dirty="0"/>
              <a:t>Can be one person or multiple people (audience).</a:t>
            </a:r>
          </a:p>
          <a:p>
            <a:pPr marL="0" indent="0" algn="just">
              <a:buNone/>
            </a:pPr>
            <a:endParaRPr lang="en-US" b="1" dirty="0"/>
          </a:p>
          <a:p>
            <a:pPr algn="just"/>
            <a:r>
              <a:rPr lang="en-US" dirty="0"/>
              <a:t>Miscommunication often occurs if the receiver misunderstands the message due to poor decoding.</a:t>
            </a:r>
          </a:p>
          <a:p>
            <a:pPr algn="just"/>
            <a:endParaRPr lang="en-IN" dirty="0"/>
          </a:p>
        </p:txBody>
      </p:sp>
    </p:spTree>
    <p:extLst>
      <p:ext uri="{BB962C8B-B14F-4D97-AF65-F5344CB8AC3E}">
        <p14:creationId xmlns:p14="http://schemas.microsoft.com/office/powerpoint/2010/main" val="6824416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DEEE0-F2C5-EC82-8904-452416CA18C4}"/>
              </a:ext>
            </a:extLst>
          </p:cNvPr>
          <p:cNvSpPr>
            <a:spLocks noGrp="1"/>
          </p:cNvSpPr>
          <p:nvPr>
            <p:ph type="title"/>
          </p:nvPr>
        </p:nvSpPr>
        <p:spPr/>
        <p:txBody>
          <a:bodyPr/>
          <a:lstStyle/>
          <a:p>
            <a:r>
              <a:rPr lang="en-US" b="1" dirty="0"/>
              <a:t>5. Feedback</a:t>
            </a:r>
            <a:br>
              <a:rPr lang="en-US" b="1" dirty="0"/>
            </a:br>
            <a:endParaRPr lang="en-IN" dirty="0"/>
          </a:p>
        </p:txBody>
      </p:sp>
      <p:sp>
        <p:nvSpPr>
          <p:cNvPr id="3" name="Content Placeholder 2">
            <a:extLst>
              <a:ext uri="{FF2B5EF4-FFF2-40B4-BE49-F238E27FC236}">
                <a16:creationId xmlns:a16="http://schemas.microsoft.com/office/drawing/2014/main" id="{77E234AB-9020-050D-CFFD-1286F69E4402}"/>
              </a:ext>
            </a:extLst>
          </p:cNvPr>
          <p:cNvSpPr>
            <a:spLocks noGrp="1"/>
          </p:cNvSpPr>
          <p:nvPr>
            <p:ph idx="1"/>
          </p:nvPr>
        </p:nvSpPr>
        <p:spPr>
          <a:xfrm>
            <a:off x="1074506" y="1458930"/>
            <a:ext cx="10515600" cy="5033945"/>
          </a:xfrm>
        </p:spPr>
        <p:txBody>
          <a:bodyPr>
            <a:normAutofit/>
          </a:bodyPr>
          <a:lstStyle/>
          <a:p>
            <a:pPr algn="just"/>
            <a:r>
              <a:rPr lang="en-US" b="1" dirty="0"/>
              <a:t>Feedback</a:t>
            </a:r>
            <a:r>
              <a:rPr lang="en-US" dirty="0"/>
              <a:t> is the response given by the receiver back to the sender after interpreting the message.</a:t>
            </a:r>
          </a:p>
          <a:p>
            <a:pPr marL="0" indent="0" algn="just">
              <a:buNone/>
            </a:pPr>
            <a:r>
              <a:rPr lang="en-US" b="1" dirty="0"/>
              <a:t>Importance:</a:t>
            </a:r>
          </a:p>
          <a:p>
            <a:pPr algn="just">
              <a:buFont typeface="Wingdings" panose="05000000000000000000" pitchFamily="2" charset="2"/>
              <a:buChar char="q"/>
            </a:pPr>
            <a:r>
              <a:rPr lang="en-US" dirty="0"/>
              <a:t>Confirms whether the message was understood correctly.</a:t>
            </a:r>
          </a:p>
          <a:p>
            <a:pPr algn="just">
              <a:buFont typeface="Wingdings" panose="05000000000000000000" pitchFamily="2" charset="2"/>
              <a:buChar char="q"/>
            </a:pPr>
            <a:r>
              <a:rPr lang="en-US" dirty="0"/>
              <a:t>Helps in adjusting and improving future communication.</a:t>
            </a:r>
          </a:p>
          <a:p>
            <a:pPr algn="just">
              <a:buFont typeface="Wingdings" panose="05000000000000000000" pitchFamily="2" charset="2"/>
              <a:buChar char="q"/>
            </a:pPr>
            <a:r>
              <a:rPr lang="en-US" dirty="0"/>
              <a:t>Can be </a:t>
            </a:r>
            <a:r>
              <a:rPr lang="en-US" b="1" dirty="0"/>
              <a:t>verbal</a:t>
            </a:r>
            <a:r>
              <a:rPr lang="en-US" dirty="0"/>
              <a:t> (“I understand”) or </a:t>
            </a:r>
            <a:r>
              <a:rPr lang="en-US" b="1" dirty="0"/>
              <a:t>non-verbal</a:t>
            </a:r>
            <a:r>
              <a:rPr lang="en-US" dirty="0"/>
              <a:t> (a nod).</a:t>
            </a:r>
          </a:p>
          <a:p>
            <a:pPr marL="0" indent="0" algn="just">
              <a:buNone/>
            </a:pPr>
            <a:r>
              <a:rPr lang="en-US" b="1" dirty="0"/>
              <a:t>Example:</a:t>
            </a:r>
          </a:p>
          <a:p>
            <a:pPr algn="just"/>
            <a:r>
              <a:rPr lang="en-US" dirty="0"/>
              <a:t>A student asking a question after a lecture.</a:t>
            </a:r>
          </a:p>
          <a:p>
            <a:pPr algn="just"/>
            <a:r>
              <a:rPr lang="en-US" dirty="0"/>
              <a:t>A reply email acknowledging receipt.</a:t>
            </a:r>
          </a:p>
          <a:p>
            <a:pPr algn="just"/>
            <a:endParaRPr lang="en-IN" dirty="0"/>
          </a:p>
        </p:txBody>
      </p:sp>
    </p:spTree>
    <p:extLst>
      <p:ext uri="{BB962C8B-B14F-4D97-AF65-F5344CB8AC3E}">
        <p14:creationId xmlns:p14="http://schemas.microsoft.com/office/powerpoint/2010/main" val="17183186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81EA1-7384-4374-36AF-6BC24C3F1448}"/>
              </a:ext>
            </a:extLst>
          </p:cNvPr>
          <p:cNvSpPr>
            <a:spLocks noGrp="1"/>
          </p:cNvSpPr>
          <p:nvPr>
            <p:ph type="title"/>
          </p:nvPr>
        </p:nvSpPr>
        <p:spPr/>
        <p:txBody>
          <a:bodyPr/>
          <a:lstStyle/>
          <a:p>
            <a:r>
              <a:rPr lang="en-US" b="1" dirty="0"/>
              <a:t>6. Environment</a:t>
            </a:r>
            <a:endParaRPr lang="en-IN" dirty="0"/>
          </a:p>
        </p:txBody>
      </p:sp>
      <p:sp>
        <p:nvSpPr>
          <p:cNvPr id="3" name="Content Placeholder 2">
            <a:extLst>
              <a:ext uri="{FF2B5EF4-FFF2-40B4-BE49-F238E27FC236}">
                <a16:creationId xmlns:a16="http://schemas.microsoft.com/office/drawing/2014/main" id="{F7469B06-1384-82A3-47FF-6E34FFC2048A}"/>
              </a:ext>
            </a:extLst>
          </p:cNvPr>
          <p:cNvSpPr>
            <a:spLocks noGrp="1"/>
          </p:cNvSpPr>
          <p:nvPr>
            <p:ph idx="1"/>
          </p:nvPr>
        </p:nvSpPr>
        <p:spPr/>
        <p:txBody>
          <a:bodyPr>
            <a:normAutofit fontScale="92500" lnSpcReduction="10000"/>
          </a:bodyPr>
          <a:lstStyle/>
          <a:p>
            <a:r>
              <a:rPr lang="en-US" dirty="0"/>
              <a:t>The </a:t>
            </a:r>
            <a:r>
              <a:rPr lang="en-US" b="1" dirty="0"/>
              <a:t>environment</a:t>
            </a:r>
            <a:r>
              <a:rPr lang="en-US" dirty="0"/>
              <a:t> refers to the physical and psychological setting in which communication occurs.</a:t>
            </a:r>
          </a:p>
          <a:p>
            <a:pPr marL="0" indent="0">
              <a:buNone/>
            </a:pPr>
            <a:r>
              <a:rPr lang="en-US" b="1" dirty="0"/>
              <a:t>Includes:</a:t>
            </a:r>
          </a:p>
          <a:p>
            <a:pPr>
              <a:buFont typeface="Wingdings" panose="05000000000000000000" pitchFamily="2" charset="2"/>
              <a:buChar char="q"/>
            </a:pPr>
            <a:r>
              <a:rPr lang="en-US" b="1" dirty="0"/>
              <a:t>Location</a:t>
            </a:r>
            <a:r>
              <a:rPr lang="en-US" dirty="0"/>
              <a:t>: Classroom, office, street.</a:t>
            </a:r>
          </a:p>
          <a:p>
            <a:pPr>
              <a:buFont typeface="Wingdings" panose="05000000000000000000" pitchFamily="2" charset="2"/>
              <a:buChar char="q"/>
            </a:pPr>
            <a:r>
              <a:rPr lang="en-US" b="1" dirty="0"/>
              <a:t>Time</a:t>
            </a:r>
            <a:r>
              <a:rPr lang="en-US" dirty="0"/>
              <a:t>: Day/night, urgency.</a:t>
            </a:r>
          </a:p>
          <a:p>
            <a:pPr>
              <a:buFont typeface="Wingdings" panose="05000000000000000000" pitchFamily="2" charset="2"/>
              <a:buChar char="q"/>
            </a:pPr>
            <a:r>
              <a:rPr lang="en-US" b="1" dirty="0"/>
              <a:t>Mood</a:t>
            </a:r>
            <a:r>
              <a:rPr lang="en-US" dirty="0"/>
              <a:t>: Emotions of sender/receiver.</a:t>
            </a:r>
          </a:p>
          <a:p>
            <a:pPr>
              <a:buFont typeface="Wingdings" panose="05000000000000000000" pitchFamily="2" charset="2"/>
              <a:buChar char="q"/>
            </a:pPr>
            <a:r>
              <a:rPr lang="en-US" b="1" dirty="0"/>
              <a:t>Distractions</a:t>
            </a:r>
            <a:r>
              <a:rPr lang="en-US" dirty="0"/>
              <a:t>: Background noise, temperature, crowd.</a:t>
            </a:r>
          </a:p>
          <a:p>
            <a:pPr marL="0" indent="0">
              <a:buNone/>
            </a:pPr>
            <a:r>
              <a:rPr lang="en-US" b="1" dirty="0"/>
              <a:t>Role:</a:t>
            </a:r>
          </a:p>
          <a:p>
            <a:r>
              <a:rPr lang="en-US" dirty="0"/>
              <a:t>A comfortable and distraction-free environment enhances effective communication.</a:t>
            </a:r>
          </a:p>
          <a:p>
            <a:pPr marL="0" indent="0">
              <a:buNone/>
            </a:pPr>
            <a:endParaRPr lang="en-IN" dirty="0"/>
          </a:p>
        </p:txBody>
      </p:sp>
    </p:spTree>
    <p:extLst>
      <p:ext uri="{BB962C8B-B14F-4D97-AF65-F5344CB8AC3E}">
        <p14:creationId xmlns:p14="http://schemas.microsoft.com/office/powerpoint/2010/main" val="36236959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8CF44-9F91-DF20-9C75-465817FBBCE0}"/>
              </a:ext>
            </a:extLst>
          </p:cNvPr>
          <p:cNvSpPr>
            <a:spLocks noGrp="1"/>
          </p:cNvSpPr>
          <p:nvPr>
            <p:ph type="title"/>
          </p:nvPr>
        </p:nvSpPr>
        <p:spPr/>
        <p:txBody>
          <a:bodyPr/>
          <a:lstStyle/>
          <a:p>
            <a:r>
              <a:rPr lang="en-US" b="1" dirty="0"/>
              <a:t>7. Context</a:t>
            </a:r>
            <a:br>
              <a:rPr lang="en-US" b="1" dirty="0"/>
            </a:br>
            <a:endParaRPr lang="en-IN" dirty="0"/>
          </a:p>
        </p:txBody>
      </p:sp>
      <p:sp>
        <p:nvSpPr>
          <p:cNvPr id="3" name="Content Placeholder 2">
            <a:extLst>
              <a:ext uri="{FF2B5EF4-FFF2-40B4-BE49-F238E27FC236}">
                <a16:creationId xmlns:a16="http://schemas.microsoft.com/office/drawing/2014/main" id="{BC6872DD-278A-ED6B-7834-1DA65D635835}"/>
              </a:ext>
            </a:extLst>
          </p:cNvPr>
          <p:cNvSpPr>
            <a:spLocks noGrp="1"/>
          </p:cNvSpPr>
          <p:nvPr>
            <p:ph idx="1"/>
          </p:nvPr>
        </p:nvSpPr>
        <p:spPr/>
        <p:txBody>
          <a:bodyPr>
            <a:normAutofit lnSpcReduction="10000"/>
          </a:bodyPr>
          <a:lstStyle/>
          <a:p>
            <a:pPr algn="just"/>
            <a:r>
              <a:rPr lang="en-US" b="1" dirty="0"/>
              <a:t>Context</a:t>
            </a:r>
            <a:r>
              <a:rPr lang="en-US" dirty="0"/>
              <a:t> provides the background or situation surrounding the communication.</a:t>
            </a:r>
          </a:p>
          <a:p>
            <a:pPr marL="0" indent="0" algn="just">
              <a:buNone/>
            </a:pPr>
            <a:r>
              <a:rPr lang="en-US" b="1" dirty="0"/>
              <a:t>Types:</a:t>
            </a:r>
          </a:p>
          <a:p>
            <a:pPr algn="just">
              <a:buFont typeface="Wingdings" panose="05000000000000000000" pitchFamily="2" charset="2"/>
              <a:buChar char="q"/>
            </a:pPr>
            <a:r>
              <a:rPr lang="en-US" b="1" dirty="0" err="1"/>
              <a:t>Example:Situational</a:t>
            </a:r>
            <a:r>
              <a:rPr lang="en-US" b="1" dirty="0"/>
              <a:t> Context</a:t>
            </a:r>
            <a:r>
              <a:rPr lang="en-US" dirty="0"/>
              <a:t>: What's happening at the time.</a:t>
            </a:r>
          </a:p>
          <a:p>
            <a:pPr algn="just">
              <a:buFont typeface="Wingdings" panose="05000000000000000000" pitchFamily="2" charset="2"/>
              <a:buChar char="q"/>
            </a:pPr>
            <a:r>
              <a:rPr lang="en-US" b="1" dirty="0"/>
              <a:t>Cultural Context</a:t>
            </a:r>
            <a:r>
              <a:rPr lang="en-US" dirty="0"/>
              <a:t>: Beliefs, values, customs.</a:t>
            </a:r>
          </a:p>
          <a:p>
            <a:pPr algn="just">
              <a:buFont typeface="Wingdings" panose="05000000000000000000" pitchFamily="2" charset="2"/>
              <a:buChar char="q"/>
            </a:pPr>
            <a:r>
              <a:rPr lang="en-US" b="1" dirty="0"/>
              <a:t>Relational Context</a:t>
            </a:r>
            <a:r>
              <a:rPr lang="en-US" dirty="0"/>
              <a:t>: The relationship between sender and receiver.</a:t>
            </a:r>
          </a:p>
          <a:p>
            <a:pPr algn="just"/>
            <a:endParaRPr lang="en-US" b="1" dirty="0"/>
          </a:p>
          <a:p>
            <a:pPr algn="just"/>
            <a:r>
              <a:rPr lang="en-US" dirty="0"/>
              <a:t>A formal tone in a business meeting vs. casual talk among friends.</a:t>
            </a:r>
          </a:p>
          <a:p>
            <a:pPr algn="just"/>
            <a:r>
              <a:rPr lang="en-US" dirty="0"/>
              <a:t>Using respectful language with elders.</a:t>
            </a:r>
          </a:p>
          <a:p>
            <a:pPr algn="just"/>
            <a:endParaRPr lang="en-IN" dirty="0"/>
          </a:p>
        </p:txBody>
      </p:sp>
    </p:spTree>
    <p:extLst>
      <p:ext uri="{BB962C8B-B14F-4D97-AF65-F5344CB8AC3E}">
        <p14:creationId xmlns:p14="http://schemas.microsoft.com/office/powerpoint/2010/main" val="6955701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F56AB-1458-9953-9800-B720D805D6AA}"/>
              </a:ext>
            </a:extLst>
          </p:cNvPr>
          <p:cNvSpPr>
            <a:spLocks noGrp="1"/>
          </p:cNvSpPr>
          <p:nvPr>
            <p:ph type="title"/>
          </p:nvPr>
        </p:nvSpPr>
        <p:spPr/>
        <p:txBody>
          <a:bodyPr/>
          <a:lstStyle/>
          <a:p>
            <a:r>
              <a:rPr lang="en-IN" b="1" dirty="0"/>
              <a:t>8. Interference (Noise)</a:t>
            </a:r>
            <a:br>
              <a:rPr lang="en-IN" b="1" dirty="0"/>
            </a:br>
            <a:endParaRPr lang="en-IN" dirty="0"/>
          </a:p>
        </p:txBody>
      </p:sp>
      <p:sp>
        <p:nvSpPr>
          <p:cNvPr id="3" name="Content Placeholder 2">
            <a:extLst>
              <a:ext uri="{FF2B5EF4-FFF2-40B4-BE49-F238E27FC236}">
                <a16:creationId xmlns:a16="http://schemas.microsoft.com/office/drawing/2014/main" id="{CE13D676-5080-02D4-2E6F-68FC54CC37AA}"/>
              </a:ext>
            </a:extLst>
          </p:cNvPr>
          <p:cNvSpPr>
            <a:spLocks noGrp="1"/>
          </p:cNvSpPr>
          <p:nvPr>
            <p:ph idx="1"/>
          </p:nvPr>
        </p:nvSpPr>
        <p:spPr>
          <a:xfrm>
            <a:off x="838200" y="1232899"/>
            <a:ext cx="10515600" cy="4944064"/>
          </a:xfrm>
        </p:spPr>
        <p:txBody>
          <a:bodyPr>
            <a:normAutofit/>
          </a:bodyPr>
          <a:lstStyle/>
          <a:p>
            <a:r>
              <a:rPr lang="en-IN" b="1" dirty="0"/>
              <a:t>Interference</a:t>
            </a:r>
            <a:r>
              <a:rPr lang="en-IN" dirty="0"/>
              <a:t>, also known as </a:t>
            </a:r>
            <a:r>
              <a:rPr lang="en-IN" b="1" dirty="0"/>
              <a:t>noise</a:t>
            </a:r>
            <a:r>
              <a:rPr lang="en-IN" dirty="0"/>
              <a:t>, is any factor that disrupts or distorts communication.</a:t>
            </a:r>
          </a:p>
          <a:p>
            <a:pPr marL="0" indent="0">
              <a:buNone/>
            </a:pPr>
            <a:r>
              <a:rPr lang="en-IN" b="1" dirty="0"/>
              <a:t>Types of Noise:</a:t>
            </a:r>
          </a:p>
          <a:p>
            <a:pPr>
              <a:buFont typeface="Wingdings" panose="05000000000000000000" pitchFamily="2" charset="2"/>
              <a:buChar char="q"/>
            </a:pPr>
            <a:r>
              <a:rPr lang="en-IN" b="1" dirty="0"/>
              <a:t>Physical Noise</a:t>
            </a:r>
            <a:r>
              <a:rPr lang="en-IN" dirty="0"/>
              <a:t>: Sounds, visual distractions.</a:t>
            </a:r>
          </a:p>
          <a:p>
            <a:pPr>
              <a:buFont typeface="Wingdings" panose="05000000000000000000" pitchFamily="2" charset="2"/>
              <a:buChar char="q"/>
            </a:pPr>
            <a:r>
              <a:rPr lang="en-IN" b="1" dirty="0"/>
              <a:t>Psychological Noise</a:t>
            </a:r>
            <a:r>
              <a:rPr lang="en-IN" dirty="0"/>
              <a:t>: Stress, emotions, assumptions.</a:t>
            </a:r>
          </a:p>
          <a:p>
            <a:pPr>
              <a:buFont typeface="Wingdings" panose="05000000000000000000" pitchFamily="2" charset="2"/>
              <a:buChar char="q"/>
            </a:pPr>
            <a:r>
              <a:rPr lang="en-IN" b="1" dirty="0"/>
              <a:t>Semantic Noise</a:t>
            </a:r>
            <a:r>
              <a:rPr lang="en-IN" dirty="0"/>
              <a:t>: Language barriers, jargon.</a:t>
            </a:r>
          </a:p>
          <a:p>
            <a:pPr>
              <a:buFont typeface="Wingdings" panose="05000000000000000000" pitchFamily="2" charset="2"/>
              <a:buChar char="q"/>
            </a:pPr>
            <a:r>
              <a:rPr lang="en-IN" b="1" dirty="0"/>
              <a:t>Technical Noise</a:t>
            </a:r>
            <a:r>
              <a:rPr lang="en-IN" dirty="0"/>
              <a:t>: Signal loss, slow internet.</a:t>
            </a:r>
          </a:p>
          <a:p>
            <a:r>
              <a:rPr lang="en-IN" b="1" dirty="0"/>
              <a:t>Outcome:</a:t>
            </a:r>
          </a:p>
          <a:p>
            <a:r>
              <a:rPr lang="en-IN" dirty="0"/>
              <a:t>Can lead to misunderstanding, incomplete message delivery, or communication failure.</a:t>
            </a:r>
          </a:p>
          <a:p>
            <a:endParaRPr lang="en-IN" dirty="0"/>
          </a:p>
        </p:txBody>
      </p:sp>
    </p:spTree>
    <p:extLst>
      <p:ext uri="{BB962C8B-B14F-4D97-AF65-F5344CB8AC3E}">
        <p14:creationId xmlns:p14="http://schemas.microsoft.com/office/powerpoint/2010/main" val="32338795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4EE45-E856-97BD-C04D-9D442C35949F}"/>
              </a:ext>
            </a:extLst>
          </p:cNvPr>
          <p:cNvSpPr>
            <a:spLocks noGrp="1"/>
          </p:cNvSpPr>
          <p:nvPr>
            <p:ph type="title"/>
          </p:nvPr>
        </p:nvSpPr>
        <p:spPr/>
        <p:txBody>
          <a:bodyPr/>
          <a:lstStyle/>
          <a:p>
            <a:r>
              <a:rPr lang="en-IN" dirty="0"/>
              <a:t>1.5 MODES OF DATA COMMUNICATION</a:t>
            </a:r>
          </a:p>
        </p:txBody>
      </p:sp>
      <p:sp>
        <p:nvSpPr>
          <p:cNvPr id="3" name="Content Placeholder 2">
            <a:extLst>
              <a:ext uri="{FF2B5EF4-FFF2-40B4-BE49-F238E27FC236}">
                <a16:creationId xmlns:a16="http://schemas.microsoft.com/office/drawing/2014/main" id="{0696582C-932D-2BDB-A678-C4A8A60746E1}"/>
              </a:ext>
            </a:extLst>
          </p:cNvPr>
          <p:cNvSpPr>
            <a:spLocks noGrp="1"/>
          </p:cNvSpPr>
          <p:nvPr>
            <p:ph idx="1"/>
          </p:nvPr>
        </p:nvSpPr>
        <p:spPr/>
        <p:txBody>
          <a:bodyPr/>
          <a:lstStyle/>
          <a:p>
            <a:r>
              <a:rPr lang="en-US" dirty="0"/>
              <a:t>devices communicate with each other by sending and receiving data. The data can flow between the two devices in the following ways.</a:t>
            </a:r>
          </a:p>
          <a:p>
            <a:pPr marL="0" indent="0">
              <a:buNone/>
            </a:pPr>
            <a:r>
              <a:rPr lang="en-US" dirty="0"/>
              <a:t> 1. Simplex </a:t>
            </a:r>
          </a:p>
          <a:p>
            <a:pPr marL="0" indent="0">
              <a:buNone/>
            </a:pPr>
            <a:r>
              <a:rPr lang="en-US" dirty="0"/>
              <a:t>2. Half Duplex</a:t>
            </a:r>
          </a:p>
          <a:p>
            <a:pPr marL="0" indent="0">
              <a:buNone/>
            </a:pPr>
            <a:r>
              <a:rPr lang="en-US" dirty="0"/>
              <a:t>3. Full Duplex</a:t>
            </a:r>
            <a:endParaRPr lang="en-IN" dirty="0"/>
          </a:p>
        </p:txBody>
      </p:sp>
    </p:spTree>
    <p:extLst>
      <p:ext uri="{BB962C8B-B14F-4D97-AF65-F5344CB8AC3E}">
        <p14:creationId xmlns:p14="http://schemas.microsoft.com/office/powerpoint/2010/main" val="35163972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F7695-8D27-BAED-BBBB-39AC6D1EF9CE}"/>
              </a:ext>
            </a:extLst>
          </p:cNvPr>
          <p:cNvSpPr>
            <a:spLocks noGrp="1"/>
          </p:cNvSpPr>
          <p:nvPr>
            <p:ph type="title"/>
          </p:nvPr>
        </p:nvSpPr>
        <p:spPr/>
        <p:txBody>
          <a:bodyPr/>
          <a:lstStyle/>
          <a:p>
            <a:r>
              <a:rPr lang="en-US" dirty="0"/>
              <a:t> 1. Simplex </a:t>
            </a:r>
            <a:br>
              <a:rPr lang="en-US" dirty="0"/>
            </a:br>
            <a:endParaRPr lang="en-IN" dirty="0"/>
          </a:p>
        </p:txBody>
      </p:sp>
      <p:sp>
        <p:nvSpPr>
          <p:cNvPr id="3" name="Content Placeholder 2">
            <a:extLst>
              <a:ext uri="{FF2B5EF4-FFF2-40B4-BE49-F238E27FC236}">
                <a16:creationId xmlns:a16="http://schemas.microsoft.com/office/drawing/2014/main" id="{5AE2864F-F742-7030-77B5-25AE4949C37A}"/>
              </a:ext>
            </a:extLst>
          </p:cNvPr>
          <p:cNvSpPr>
            <a:spLocks noGrp="1"/>
          </p:cNvSpPr>
          <p:nvPr>
            <p:ph idx="1"/>
          </p:nvPr>
        </p:nvSpPr>
        <p:spPr>
          <a:xfrm>
            <a:off x="838200" y="1212351"/>
            <a:ext cx="10515600" cy="4964612"/>
          </a:xfrm>
        </p:spPr>
        <p:txBody>
          <a:bodyPr/>
          <a:lstStyle/>
          <a:p>
            <a:r>
              <a:rPr lang="en-US" dirty="0"/>
              <a:t>In Simplex, communication is unidirectional Only one of the devices sends the data and the other one only receives the data. Example: in the above diagram: a </a:t>
            </a:r>
            <a:r>
              <a:rPr lang="en-US" dirty="0" err="1"/>
              <a:t>cpu</a:t>
            </a:r>
            <a:r>
              <a:rPr lang="en-US" dirty="0"/>
              <a:t> send data while a monitor only receives data.</a:t>
            </a:r>
          </a:p>
          <a:p>
            <a:endParaRPr lang="en-IN" dirty="0"/>
          </a:p>
        </p:txBody>
      </p:sp>
      <p:pic>
        <p:nvPicPr>
          <p:cNvPr id="7" name="Picture 6">
            <a:extLst>
              <a:ext uri="{FF2B5EF4-FFF2-40B4-BE49-F238E27FC236}">
                <a16:creationId xmlns:a16="http://schemas.microsoft.com/office/drawing/2014/main" id="{25823CFB-AAA8-FED7-610C-8943178E0F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2904" y="3428999"/>
            <a:ext cx="5572049" cy="3063876"/>
          </a:xfrm>
          <a:prstGeom prst="rect">
            <a:avLst/>
          </a:prstGeom>
        </p:spPr>
      </p:pic>
    </p:spTree>
    <p:extLst>
      <p:ext uri="{BB962C8B-B14F-4D97-AF65-F5344CB8AC3E}">
        <p14:creationId xmlns:p14="http://schemas.microsoft.com/office/powerpoint/2010/main" val="1068785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616EE-69EC-7199-C2DA-CF1815BC1365}"/>
              </a:ext>
            </a:extLst>
          </p:cNvPr>
          <p:cNvSpPr>
            <a:spLocks noGrp="1"/>
          </p:cNvSpPr>
          <p:nvPr>
            <p:ph type="title"/>
          </p:nvPr>
        </p:nvSpPr>
        <p:spPr>
          <a:xfrm>
            <a:off x="838200" y="365126"/>
            <a:ext cx="10515600" cy="765032"/>
          </a:xfrm>
        </p:spPr>
        <p:txBody>
          <a:bodyPr>
            <a:normAutofit fontScale="90000"/>
          </a:bodyPr>
          <a:lstStyle/>
          <a:p>
            <a:r>
              <a:rPr lang="en-US" dirty="0"/>
              <a:t>2.Half Duplex</a:t>
            </a:r>
            <a:br>
              <a:rPr lang="en-US" dirty="0"/>
            </a:br>
            <a:endParaRPr lang="en-IN" dirty="0"/>
          </a:p>
        </p:txBody>
      </p:sp>
      <p:sp>
        <p:nvSpPr>
          <p:cNvPr id="3" name="Content Placeholder 2">
            <a:extLst>
              <a:ext uri="{FF2B5EF4-FFF2-40B4-BE49-F238E27FC236}">
                <a16:creationId xmlns:a16="http://schemas.microsoft.com/office/drawing/2014/main" id="{9AA35C41-0595-FB68-3CCF-FAD46AE7F1AA}"/>
              </a:ext>
            </a:extLst>
          </p:cNvPr>
          <p:cNvSpPr>
            <a:spLocks noGrp="1"/>
          </p:cNvSpPr>
          <p:nvPr>
            <p:ph idx="1"/>
          </p:nvPr>
        </p:nvSpPr>
        <p:spPr>
          <a:xfrm>
            <a:off x="838200" y="976045"/>
            <a:ext cx="10515600" cy="5200918"/>
          </a:xfrm>
        </p:spPr>
        <p:txBody>
          <a:bodyPr/>
          <a:lstStyle/>
          <a:p>
            <a:r>
              <a:rPr lang="en-US" dirty="0"/>
              <a:t>In half duplex both the stations can transmit as well as receive but not at the same time. When one device is sending other can only receive and vice versa (as shown in figure above.) </a:t>
            </a:r>
          </a:p>
          <a:p>
            <a:pPr marL="0" indent="0">
              <a:buNone/>
            </a:pPr>
            <a:r>
              <a:rPr lang="en-US" dirty="0"/>
              <a:t>Example: A walkie-talkie.</a:t>
            </a:r>
          </a:p>
          <a:p>
            <a:pPr marL="0" indent="0">
              <a:buNone/>
            </a:pPr>
            <a:endParaRPr lang="en-IN" dirty="0"/>
          </a:p>
        </p:txBody>
      </p:sp>
      <p:pic>
        <p:nvPicPr>
          <p:cNvPr id="5" name="Picture 4">
            <a:extLst>
              <a:ext uri="{FF2B5EF4-FFF2-40B4-BE49-F238E27FC236}">
                <a16:creationId xmlns:a16="http://schemas.microsoft.com/office/drawing/2014/main" id="{458C3AFA-6C10-E3B7-5608-9DA65A5213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6430" y="3234361"/>
            <a:ext cx="7213067" cy="3146015"/>
          </a:xfrm>
          <a:prstGeom prst="rect">
            <a:avLst/>
          </a:prstGeom>
        </p:spPr>
      </p:pic>
    </p:spTree>
    <p:extLst>
      <p:ext uri="{BB962C8B-B14F-4D97-AF65-F5344CB8AC3E}">
        <p14:creationId xmlns:p14="http://schemas.microsoft.com/office/powerpoint/2010/main" val="36914757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97FC3-1FCA-6E81-7B05-5236EED632BC}"/>
              </a:ext>
            </a:extLst>
          </p:cNvPr>
          <p:cNvSpPr>
            <a:spLocks noGrp="1"/>
          </p:cNvSpPr>
          <p:nvPr>
            <p:ph type="title"/>
          </p:nvPr>
        </p:nvSpPr>
        <p:spPr/>
        <p:txBody>
          <a:bodyPr/>
          <a:lstStyle/>
          <a:p>
            <a:r>
              <a:rPr lang="en-IN" dirty="0"/>
              <a:t>3.</a:t>
            </a:r>
            <a:r>
              <a:rPr lang="en-US" dirty="0"/>
              <a:t> Full Duplex</a:t>
            </a:r>
            <a:endParaRPr lang="en-IN" dirty="0"/>
          </a:p>
        </p:txBody>
      </p:sp>
      <p:sp>
        <p:nvSpPr>
          <p:cNvPr id="3" name="Content Placeholder 2">
            <a:extLst>
              <a:ext uri="{FF2B5EF4-FFF2-40B4-BE49-F238E27FC236}">
                <a16:creationId xmlns:a16="http://schemas.microsoft.com/office/drawing/2014/main" id="{D774A4E2-DA53-536C-C056-B740B5D32892}"/>
              </a:ext>
            </a:extLst>
          </p:cNvPr>
          <p:cNvSpPr>
            <a:spLocks noGrp="1"/>
          </p:cNvSpPr>
          <p:nvPr>
            <p:ph idx="1"/>
          </p:nvPr>
        </p:nvSpPr>
        <p:spPr>
          <a:xfrm>
            <a:off x="838200" y="1366463"/>
            <a:ext cx="10515600" cy="4810500"/>
          </a:xfrm>
        </p:spPr>
        <p:txBody>
          <a:bodyPr/>
          <a:lstStyle/>
          <a:p>
            <a:r>
              <a:rPr lang="en-US" dirty="0"/>
              <a:t>In Full duplex mode, both stations can transmit and receive at the same time. </a:t>
            </a:r>
          </a:p>
          <a:p>
            <a:pPr marL="0" indent="0">
              <a:buNone/>
            </a:pPr>
            <a:r>
              <a:rPr lang="en-US" dirty="0"/>
              <a:t>Example: mobile phones</a:t>
            </a:r>
          </a:p>
          <a:p>
            <a:pPr marL="0" indent="0">
              <a:buNone/>
            </a:pPr>
            <a:endParaRPr lang="en-IN" dirty="0"/>
          </a:p>
        </p:txBody>
      </p:sp>
      <p:pic>
        <p:nvPicPr>
          <p:cNvPr id="5" name="Picture 4">
            <a:extLst>
              <a:ext uri="{FF2B5EF4-FFF2-40B4-BE49-F238E27FC236}">
                <a16:creationId xmlns:a16="http://schemas.microsoft.com/office/drawing/2014/main" id="{543118E4-E612-E0C9-9F3B-4E2A30A9AA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4863" y="3291119"/>
            <a:ext cx="7702126" cy="3201756"/>
          </a:xfrm>
          <a:prstGeom prst="rect">
            <a:avLst/>
          </a:prstGeom>
        </p:spPr>
      </p:pic>
    </p:spTree>
    <p:extLst>
      <p:ext uri="{BB962C8B-B14F-4D97-AF65-F5344CB8AC3E}">
        <p14:creationId xmlns:p14="http://schemas.microsoft.com/office/powerpoint/2010/main" val="41781584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1.6 IEEE PROTOCOL AND STANDARDS</a:t>
            </a:r>
            <a:endParaRPr lang="en-US" dirty="0"/>
          </a:p>
        </p:txBody>
      </p:sp>
      <p:sp>
        <p:nvSpPr>
          <p:cNvPr id="3" name="Content Placeholder 2"/>
          <p:cNvSpPr>
            <a:spLocks noGrp="1"/>
          </p:cNvSpPr>
          <p:nvPr>
            <p:ph idx="1"/>
          </p:nvPr>
        </p:nvSpPr>
        <p:spPr/>
        <p:txBody>
          <a:bodyPr/>
          <a:lstStyle/>
          <a:p>
            <a:pPr marL="0" indent="0" algn="just">
              <a:buNone/>
            </a:pPr>
            <a:r>
              <a:rPr lang="en-US" b="1" dirty="0"/>
              <a:t>What is IEEE?</a:t>
            </a:r>
            <a:endParaRPr lang="en-US" dirty="0"/>
          </a:p>
          <a:p>
            <a:pPr lvl="0" algn="just"/>
            <a:r>
              <a:rPr lang="en-US" b="1" dirty="0"/>
              <a:t>IEEE</a:t>
            </a:r>
            <a:r>
              <a:rPr lang="en-US" dirty="0"/>
              <a:t> stands for </a:t>
            </a:r>
            <a:r>
              <a:rPr lang="en-US" b="1" dirty="0"/>
              <a:t>Institute of Electrical and Electronics Engineers</a:t>
            </a:r>
            <a:r>
              <a:rPr lang="en-US" dirty="0" smtClean="0"/>
              <a:t>.</a:t>
            </a:r>
          </a:p>
          <a:p>
            <a:pPr algn="just"/>
            <a:r>
              <a:rPr lang="en-US" dirty="0"/>
              <a:t>It is a professional organization that develops and promotes </a:t>
            </a:r>
            <a:r>
              <a:rPr lang="en-US" b="1" dirty="0"/>
              <a:t>technical standards</a:t>
            </a:r>
            <a:r>
              <a:rPr lang="en-US" dirty="0"/>
              <a:t> for a wide range of industries, especially in electronics, communication, and computer networking.</a:t>
            </a:r>
          </a:p>
          <a:p>
            <a:pPr lvl="0" algn="just"/>
            <a:endParaRPr lang="en-US" dirty="0"/>
          </a:p>
          <a:p>
            <a:pPr algn="just"/>
            <a:endParaRPr lang="en-US" dirty="0"/>
          </a:p>
        </p:txBody>
      </p:sp>
    </p:spTree>
    <p:extLst>
      <p:ext uri="{BB962C8B-B14F-4D97-AF65-F5344CB8AC3E}">
        <p14:creationId xmlns:p14="http://schemas.microsoft.com/office/powerpoint/2010/main" val="17810275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03385"/>
            <a:ext cx="10515600" cy="5473578"/>
          </a:xfrm>
        </p:spPr>
        <p:txBody>
          <a:bodyPr/>
          <a:lstStyle/>
          <a:p>
            <a:pPr marL="0" indent="0" algn="just">
              <a:buNone/>
            </a:pPr>
            <a:r>
              <a:rPr lang="en-US" b="1" dirty="0"/>
              <a:t>What are IEEE Standards?</a:t>
            </a:r>
            <a:endParaRPr lang="en-US" dirty="0"/>
          </a:p>
          <a:p>
            <a:pPr lvl="0" algn="just"/>
            <a:r>
              <a:rPr lang="en-US" dirty="0"/>
              <a:t>IEEE standards are </a:t>
            </a:r>
            <a:r>
              <a:rPr lang="en-US" b="1" dirty="0"/>
              <a:t>agreed-upon technical rules</a:t>
            </a:r>
            <a:r>
              <a:rPr lang="en-US" dirty="0"/>
              <a:t> and </a:t>
            </a:r>
            <a:r>
              <a:rPr lang="en-US" b="1" dirty="0"/>
              <a:t>guidelines</a:t>
            </a:r>
            <a:r>
              <a:rPr lang="en-US" dirty="0"/>
              <a:t> that ensure devices and systems can interoperate and work reliably.</a:t>
            </a:r>
          </a:p>
          <a:p>
            <a:pPr algn="just"/>
            <a:r>
              <a:rPr lang="en-US" dirty="0"/>
              <a:t>Standards cover protocols, data formats, hardware, and software specifications</a:t>
            </a:r>
            <a:r>
              <a:rPr lang="en-US" dirty="0" smtClean="0"/>
              <a:t>.</a:t>
            </a:r>
          </a:p>
          <a:p>
            <a:pPr marL="0" indent="0">
              <a:buNone/>
            </a:pPr>
            <a:r>
              <a:rPr lang="en-US" b="1" dirty="0"/>
              <a:t>Why IEEE Standards?</a:t>
            </a:r>
            <a:endParaRPr lang="en-US" dirty="0"/>
          </a:p>
          <a:p>
            <a:pPr lvl="0"/>
            <a:r>
              <a:rPr lang="en-US" dirty="0"/>
              <a:t>Ensure </a:t>
            </a:r>
            <a:r>
              <a:rPr lang="en-US" b="1" dirty="0"/>
              <a:t>compatibility</a:t>
            </a:r>
            <a:r>
              <a:rPr lang="en-US" dirty="0"/>
              <a:t> and </a:t>
            </a:r>
            <a:r>
              <a:rPr lang="en-US" b="1" dirty="0"/>
              <a:t>interoperability</a:t>
            </a:r>
            <a:r>
              <a:rPr lang="en-US" dirty="0"/>
              <a:t> between devices from different manufacturers.</a:t>
            </a:r>
          </a:p>
          <a:p>
            <a:pPr lvl="0"/>
            <a:r>
              <a:rPr lang="en-US" dirty="0"/>
              <a:t>Promote </a:t>
            </a:r>
            <a:r>
              <a:rPr lang="en-US" b="1" dirty="0"/>
              <a:t>quality</a:t>
            </a:r>
            <a:r>
              <a:rPr lang="en-US" dirty="0"/>
              <a:t>, </a:t>
            </a:r>
            <a:r>
              <a:rPr lang="en-US" b="1" dirty="0"/>
              <a:t>safety</a:t>
            </a:r>
            <a:r>
              <a:rPr lang="en-US" dirty="0"/>
              <a:t>, and </a:t>
            </a:r>
            <a:r>
              <a:rPr lang="en-US" b="1" dirty="0"/>
              <a:t>efficiency</a:t>
            </a:r>
            <a:r>
              <a:rPr lang="en-US" dirty="0"/>
              <a:t>.</a:t>
            </a:r>
          </a:p>
          <a:p>
            <a:r>
              <a:rPr lang="en-US" dirty="0"/>
              <a:t>Accelerate </a:t>
            </a:r>
            <a:r>
              <a:rPr lang="en-US" b="1" dirty="0"/>
              <a:t>technology development</a:t>
            </a:r>
            <a:r>
              <a:rPr lang="en-US" dirty="0"/>
              <a:t> by providing a common framework.</a:t>
            </a:r>
            <a:endParaRPr lang="en-US" dirty="0"/>
          </a:p>
        </p:txBody>
      </p:sp>
    </p:spTree>
    <p:extLst>
      <p:ext uri="{BB962C8B-B14F-4D97-AF65-F5344CB8AC3E}">
        <p14:creationId xmlns:p14="http://schemas.microsoft.com/office/powerpoint/2010/main" val="18349829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Common IEEE Protocols and Standards in Networking</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b="1" dirty="0" smtClean="0"/>
              <a:t>1. </a:t>
            </a:r>
            <a:r>
              <a:rPr lang="en-US" b="1" dirty="0"/>
              <a:t>IEEE 802 Family</a:t>
            </a:r>
            <a:endParaRPr lang="en-US" dirty="0"/>
          </a:p>
          <a:p>
            <a:pPr lvl="0"/>
            <a:r>
              <a:rPr lang="en-US" dirty="0"/>
              <a:t>A set of standards related to </a:t>
            </a:r>
            <a:r>
              <a:rPr lang="en-US" b="1" dirty="0"/>
              <a:t>Local Area Networks (LANs)</a:t>
            </a:r>
            <a:r>
              <a:rPr lang="en-US" dirty="0"/>
              <a:t> and </a:t>
            </a:r>
            <a:r>
              <a:rPr lang="en-US" b="1" dirty="0"/>
              <a:t>Metropolitan Area Networks (MANs)</a:t>
            </a:r>
            <a:r>
              <a:rPr lang="en-US" dirty="0"/>
              <a:t>.</a:t>
            </a:r>
          </a:p>
          <a:p>
            <a:pPr marL="0" indent="0">
              <a:buNone/>
            </a:pPr>
            <a:r>
              <a:rPr lang="en-US" b="1" dirty="0"/>
              <a:t>Key IEEE 802 Standards:</a:t>
            </a:r>
            <a:endParaRPr lang="en-US" sz="3600" dirty="0"/>
          </a:p>
          <a:p>
            <a:pPr lvl="0"/>
            <a:r>
              <a:rPr lang="en-US" b="1" dirty="0"/>
              <a:t>IEEE 802.3</a:t>
            </a:r>
            <a:r>
              <a:rPr lang="en-US" dirty="0"/>
              <a:t>: Ethernet</a:t>
            </a:r>
            <a:endParaRPr lang="en-US" sz="2400" dirty="0"/>
          </a:p>
          <a:p>
            <a:pPr lvl="1"/>
            <a:r>
              <a:rPr lang="en-US" dirty="0"/>
              <a:t>Defines wired LAN communication using Ethernet cables.</a:t>
            </a:r>
            <a:endParaRPr lang="en-US" sz="2000" dirty="0"/>
          </a:p>
          <a:p>
            <a:pPr lvl="1"/>
            <a:r>
              <a:rPr lang="en-US" dirty="0"/>
              <a:t>Specifies the physical and data link layer protocols</a:t>
            </a:r>
            <a:r>
              <a:rPr lang="en-US" dirty="0" smtClean="0"/>
              <a:t>.</a:t>
            </a:r>
          </a:p>
          <a:p>
            <a:pPr lvl="0"/>
            <a:r>
              <a:rPr lang="en-US" b="1" dirty="0"/>
              <a:t>IEEE 802.11</a:t>
            </a:r>
            <a:r>
              <a:rPr lang="en-US" dirty="0"/>
              <a:t>: Wireless LAN (Wi-Fi)</a:t>
            </a:r>
            <a:endParaRPr lang="en-US" sz="2400" dirty="0"/>
          </a:p>
          <a:p>
            <a:pPr lvl="1"/>
            <a:r>
              <a:rPr lang="en-US" dirty="0"/>
              <a:t>Defines wireless communication standards.</a:t>
            </a:r>
            <a:endParaRPr lang="en-US" sz="2000" dirty="0"/>
          </a:p>
          <a:p>
            <a:pPr lvl="1"/>
            <a:r>
              <a:rPr lang="en-US" dirty="0"/>
              <a:t>Includes variants like 802.11a/b/g/n/ac/ax with different speeds and frequencies.</a:t>
            </a:r>
            <a:endParaRPr lang="en-US" sz="2000" dirty="0"/>
          </a:p>
          <a:p>
            <a:pPr lvl="0"/>
            <a:r>
              <a:rPr lang="en-US" b="1" dirty="0"/>
              <a:t>IEEE 802.15</a:t>
            </a:r>
            <a:r>
              <a:rPr lang="en-US" dirty="0"/>
              <a:t>: Wireless Personal Area Networks (WPANs), e.g., Bluetooth.</a:t>
            </a:r>
            <a:endParaRPr lang="en-US" sz="2400" dirty="0"/>
          </a:p>
          <a:p>
            <a:r>
              <a:rPr lang="en-US" b="1" dirty="0"/>
              <a:t>IEEE 802.16</a:t>
            </a:r>
            <a:r>
              <a:rPr lang="en-US" dirty="0"/>
              <a:t>: Broadband Wireless Access (</a:t>
            </a:r>
            <a:r>
              <a:rPr lang="en-US" dirty="0" smtClean="0"/>
              <a:t>WiMAX)</a:t>
            </a:r>
            <a:endParaRPr lang="en-US" sz="4400" dirty="0"/>
          </a:p>
        </p:txBody>
      </p:sp>
    </p:spTree>
    <p:extLst>
      <p:ext uri="{BB962C8B-B14F-4D97-AF65-F5344CB8AC3E}">
        <p14:creationId xmlns:p14="http://schemas.microsoft.com/office/powerpoint/2010/main" val="22756878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28246"/>
            <a:ext cx="10515600" cy="5848717"/>
          </a:xfrm>
        </p:spPr>
        <p:txBody>
          <a:bodyPr/>
          <a:lstStyle/>
          <a:p>
            <a:pPr marL="0" indent="0">
              <a:buNone/>
            </a:pPr>
            <a:r>
              <a:rPr lang="en-US" b="1" dirty="0"/>
              <a:t>2. IEEE 802.1</a:t>
            </a:r>
            <a:endParaRPr lang="en-US" dirty="0"/>
          </a:p>
          <a:p>
            <a:pPr lvl="0"/>
            <a:r>
              <a:rPr lang="en-US" dirty="0"/>
              <a:t>Focuses on </a:t>
            </a:r>
            <a:r>
              <a:rPr lang="en-US" b="1" dirty="0"/>
              <a:t>network management</a:t>
            </a:r>
            <a:r>
              <a:rPr lang="en-US" dirty="0"/>
              <a:t> and </a:t>
            </a:r>
            <a:r>
              <a:rPr lang="en-US" b="1" dirty="0"/>
              <a:t>bridging</a:t>
            </a:r>
            <a:r>
              <a:rPr lang="en-US" dirty="0"/>
              <a:t>.</a:t>
            </a:r>
          </a:p>
          <a:p>
            <a:r>
              <a:rPr lang="en-US" dirty="0"/>
              <a:t>Includes standards for </a:t>
            </a:r>
            <a:r>
              <a:rPr lang="en-US" b="1" dirty="0"/>
              <a:t>VLANs (Virtual LANs)</a:t>
            </a:r>
            <a:r>
              <a:rPr lang="en-US" dirty="0"/>
              <a:t>, </a:t>
            </a:r>
            <a:r>
              <a:rPr lang="en-US" b="1" dirty="0"/>
              <a:t>Spanning Tree Protocol (STP)</a:t>
            </a:r>
            <a:r>
              <a:rPr lang="en-US" dirty="0"/>
              <a:t>, and </a:t>
            </a:r>
            <a:r>
              <a:rPr lang="en-US" b="1" dirty="0"/>
              <a:t>Quality of Service (</a:t>
            </a:r>
            <a:r>
              <a:rPr lang="en-US" b="1" dirty="0" err="1"/>
              <a:t>QoS</a:t>
            </a:r>
            <a:r>
              <a:rPr lang="en-US" b="1" dirty="0"/>
              <a:t>)</a:t>
            </a:r>
            <a:r>
              <a:rPr lang="en-US" dirty="0"/>
              <a:t>.</a:t>
            </a:r>
            <a:endParaRPr lang="en-US" dirty="0"/>
          </a:p>
        </p:txBody>
      </p:sp>
    </p:spTree>
    <p:extLst>
      <p:ext uri="{BB962C8B-B14F-4D97-AF65-F5344CB8AC3E}">
        <p14:creationId xmlns:p14="http://schemas.microsoft.com/office/powerpoint/2010/main" val="21502839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Layers of IEEE Protocols</a:t>
            </a:r>
            <a:r>
              <a:rPr lang="en-US" dirty="0"/>
              <a:t/>
            </a:r>
            <a:br>
              <a:rPr lang="en-US" dirty="0"/>
            </a:br>
            <a:endParaRPr lang="en-US" dirty="0"/>
          </a:p>
        </p:txBody>
      </p:sp>
      <p:sp>
        <p:nvSpPr>
          <p:cNvPr id="3" name="Content Placeholder 2"/>
          <p:cNvSpPr>
            <a:spLocks noGrp="1"/>
          </p:cNvSpPr>
          <p:nvPr>
            <p:ph idx="1"/>
          </p:nvPr>
        </p:nvSpPr>
        <p:spPr/>
        <p:txBody>
          <a:bodyPr/>
          <a:lstStyle/>
          <a:p>
            <a:pPr lvl="0"/>
            <a:r>
              <a:rPr lang="en-US" dirty="0"/>
              <a:t>Most IEEE protocols apply to the </a:t>
            </a:r>
            <a:r>
              <a:rPr lang="en-US" b="1" dirty="0"/>
              <a:t>Physical Layer</a:t>
            </a:r>
            <a:r>
              <a:rPr lang="en-US" dirty="0"/>
              <a:t> and </a:t>
            </a:r>
            <a:r>
              <a:rPr lang="en-US" b="1" dirty="0"/>
              <a:t>Data Link Layer</a:t>
            </a:r>
            <a:r>
              <a:rPr lang="en-US" dirty="0"/>
              <a:t> of the OSI model.</a:t>
            </a:r>
          </a:p>
          <a:p>
            <a:pPr lvl="0"/>
            <a:r>
              <a:rPr lang="en-US" dirty="0"/>
              <a:t>For example, </a:t>
            </a:r>
            <a:r>
              <a:rPr lang="en-US" b="1" dirty="0"/>
              <a:t>IEEE 802.3 (Ethernet)</a:t>
            </a:r>
            <a:r>
              <a:rPr lang="en-US" dirty="0"/>
              <a:t> defines:</a:t>
            </a:r>
          </a:p>
          <a:p>
            <a:pPr lvl="1"/>
            <a:r>
              <a:rPr lang="en-US" dirty="0" smtClean="0"/>
              <a:t>Physical </a:t>
            </a:r>
            <a:r>
              <a:rPr lang="en-US" dirty="0"/>
              <a:t>Layer: how bits are transmitted over cables.</a:t>
            </a:r>
            <a:endParaRPr lang="en-US" sz="2000" dirty="0"/>
          </a:p>
          <a:p>
            <a:pPr lvl="1"/>
            <a:r>
              <a:rPr lang="en-US" dirty="0" smtClean="0"/>
              <a:t>Data </a:t>
            </a:r>
            <a:r>
              <a:rPr lang="en-US" dirty="0"/>
              <a:t>Link Layer: MAC (Media Access Control) addresses and frame formats.</a:t>
            </a:r>
            <a:endParaRPr lang="en-US" sz="2000" dirty="0"/>
          </a:p>
          <a:p>
            <a:endParaRPr lang="en-US" dirty="0"/>
          </a:p>
        </p:txBody>
      </p:sp>
    </p:spTree>
    <p:extLst>
      <p:ext uri="{BB962C8B-B14F-4D97-AF65-F5344CB8AC3E}">
        <p14:creationId xmlns:p14="http://schemas.microsoft.com/office/powerpoint/2010/main" val="29325859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Examples of IEEE Protocol Use Cases</a:t>
            </a:r>
            <a:r>
              <a:rPr lang="en-US" dirty="0"/>
              <a:t/>
            </a:r>
            <a:br>
              <a:rPr lang="en-US" dirty="0"/>
            </a:br>
            <a:endParaRPr lang="en-US" dirty="0"/>
          </a:p>
        </p:txBody>
      </p:sp>
      <p:pic>
        <p:nvPicPr>
          <p:cNvPr id="4" name="Content Placeholder 1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60205" y="1825625"/>
            <a:ext cx="10471589" cy="4351338"/>
          </a:xfrm>
        </p:spPr>
      </p:pic>
    </p:spTree>
    <p:extLst>
      <p:ext uri="{BB962C8B-B14F-4D97-AF65-F5344CB8AC3E}">
        <p14:creationId xmlns:p14="http://schemas.microsoft.com/office/powerpoint/2010/main" val="7308887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Concepts in IEEE Protocols</a:t>
            </a:r>
            <a:r>
              <a:rPr lang="en-US" dirty="0"/>
              <a:t/>
            </a:r>
            <a:br>
              <a:rPr lang="en-US" dirty="0"/>
            </a:br>
            <a:endParaRPr lang="en-US" dirty="0"/>
          </a:p>
        </p:txBody>
      </p:sp>
      <p:sp>
        <p:nvSpPr>
          <p:cNvPr id="3" name="Content Placeholder 2"/>
          <p:cNvSpPr>
            <a:spLocks noGrp="1"/>
          </p:cNvSpPr>
          <p:nvPr>
            <p:ph idx="1"/>
          </p:nvPr>
        </p:nvSpPr>
        <p:spPr/>
        <p:txBody>
          <a:bodyPr/>
          <a:lstStyle/>
          <a:p>
            <a:pPr lvl="0"/>
            <a:r>
              <a:rPr lang="en-US" b="1" dirty="0"/>
              <a:t>MAC Address</a:t>
            </a:r>
            <a:r>
              <a:rPr lang="en-US" dirty="0"/>
              <a:t>: Unique hardware address for devices on a network (48 bits).</a:t>
            </a:r>
          </a:p>
          <a:p>
            <a:pPr lvl="0"/>
            <a:r>
              <a:rPr lang="en-US" b="1" dirty="0"/>
              <a:t>Frames</a:t>
            </a:r>
            <a:r>
              <a:rPr lang="en-US" dirty="0"/>
              <a:t>: Data packets defined at the Data Link layer in IEEE protocols.</a:t>
            </a:r>
          </a:p>
          <a:p>
            <a:pPr lvl="0"/>
            <a:r>
              <a:rPr lang="en-US" b="1" dirty="0"/>
              <a:t>Collision Detection (CSMA/CD)</a:t>
            </a:r>
            <a:r>
              <a:rPr lang="en-US" dirty="0"/>
              <a:t>: Used in Ethernet to avoid data collision.</a:t>
            </a:r>
          </a:p>
          <a:p>
            <a:pPr lvl="0"/>
            <a:r>
              <a:rPr lang="en-US" b="1" dirty="0"/>
              <a:t>Access Methods</a:t>
            </a:r>
            <a:r>
              <a:rPr lang="en-US" dirty="0"/>
              <a:t>: Rules on how devices take turns communicating (e.g., CSMA/CA in Wi-Fi).</a:t>
            </a:r>
          </a:p>
          <a:p>
            <a:endParaRPr lang="en-US" dirty="0"/>
          </a:p>
        </p:txBody>
      </p:sp>
    </p:spTree>
    <p:extLst>
      <p:ext uri="{BB962C8B-B14F-4D97-AF65-F5344CB8AC3E}">
        <p14:creationId xmlns:p14="http://schemas.microsoft.com/office/powerpoint/2010/main" val="15290546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63091-D70C-AA2A-B7ED-58EDB4D0F9BC}"/>
              </a:ext>
            </a:extLst>
          </p:cNvPr>
          <p:cNvSpPr>
            <a:spLocks noGrp="1"/>
          </p:cNvSpPr>
          <p:nvPr>
            <p:ph type="title"/>
          </p:nvPr>
        </p:nvSpPr>
        <p:spPr>
          <a:xfrm>
            <a:off x="708917" y="441789"/>
            <a:ext cx="10644883" cy="1248899"/>
          </a:xfrm>
        </p:spPr>
        <p:txBody>
          <a:bodyPr/>
          <a:lstStyle/>
          <a:p>
            <a:r>
              <a:rPr lang="en-IN" dirty="0"/>
              <a:t>1.7 Network classifications</a:t>
            </a:r>
          </a:p>
        </p:txBody>
      </p:sp>
      <p:sp>
        <p:nvSpPr>
          <p:cNvPr id="3" name="Content Placeholder 2">
            <a:extLst>
              <a:ext uri="{FF2B5EF4-FFF2-40B4-BE49-F238E27FC236}">
                <a16:creationId xmlns:a16="http://schemas.microsoft.com/office/drawing/2014/main" id="{A1195790-31A5-80ED-C74C-8ED9A026E18D}"/>
              </a:ext>
            </a:extLst>
          </p:cNvPr>
          <p:cNvSpPr>
            <a:spLocks noGrp="1"/>
          </p:cNvSpPr>
          <p:nvPr>
            <p:ph idx="1"/>
          </p:nvPr>
        </p:nvSpPr>
        <p:spPr/>
        <p:txBody>
          <a:bodyPr/>
          <a:lstStyle/>
          <a:p>
            <a:pPr algn="just"/>
            <a:r>
              <a:rPr lang="en-US" dirty="0"/>
              <a:t>A computer network is a system that connects many independent computers to share information (data) and resources. The integration of computers and other different devices allows users to communicate more easily. It is a collection of two or more computer systems that are linked together. A network connection can be established using either cable or wireless media. Hardware and software are used to connect computers and tools in any network.</a:t>
            </a:r>
            <a:endParaRPr lang="en-IN" dirty="0"/>
          </a:p>
        </p:txBody>
      </p:sp>
    </p:spTree>
    <p:extLst>
      <p:ext uri="{BB962C8B-B14F-4D97-AF65-F5344CB8AC3E}">
        <p14:creationId xmlns:p14="http://schemas.microsoft.com/office/powerpoint/2010/main" val="25521814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921DB-451C-F360-766E-C56CE8C43278}"/>
              </a:ext>
            </a:extLst>
          </p:cNvPr>
          <p:cNvSpPr>
            <a:spLocks noGrp="1"/>
          </p:cNvSpPr>
          <p:nvPr>
            <p:ph type="title"/>
          </p:nvPr>
        </p:nvSpPr>
        <p:spPr/>
        <p:txBody>
          <a:bodyPr/>
          <a:lstStyle/>
          <a:p>
            <a:r>
              <a:rPr lang="en-US" b="1" dirty="0"/>
              <a:t>Types of Computer Networks</a:t>
            </a:r>
            <a:br>
              <a:rPr lang="en-US" b="1" dirty="0"/>
            </a:br>
            <a:endParaRPr lang="en-IN" dirty="0"/>
          </a:p>
        </p:txBody>
      </p:sp>
      <p:sp>
        <p:nvSpPr>
          <p:cNvPr id="3" name="Content Placeholder 2">
            <a:extLst>
              <a:ext uri="{FF2B5EF4-FFF2-40B4-BE49-F238E27FC236}">
                <a16:creationId xmlns:a16="http://schemas.microsoft.com/office/drawing/2014/main" id="{C537A238-3685-CA35-E23E-02C7038EFC26}"/>
              </a:ext>
            </a:extLst>
          </p:cNvPr>
          <p:cNvSpPr>
            <a:spLocks noGrp="1"/>
          </p:cNvSpPr>
          <p:nvPr>
            <p:ph idx="1"/>
          </p:nvPr>
        </p:nvSpPr>
        <p:spPr/>
        <p:txBody>
          <a:bodyPr/>
          <a:lstStyle/>
          <a:p>
            <a:pPr marL="0" indent="0" fontAlgn="base">
              <a:buNone/>
            </a:pPr>
            <a:r>
              <a:rPr lang="en-US" dirty="0"/>
              <a:t>There are mainly five types of Computer Networks</a:t>
            </a:r>
          </a:p>
          <a:p>
            <a:pPr fontAlgn="base"/>
            <a:r>
              <a:rPr lang="en-US" dirty="0"/>
              <a:t>Personal Area Network (PAN)</a:t>
            </a:r>
          </a:p>
          <a:p>
            <a:pPr fontAlgn="base"/>
            <a:r>
              <a:rPr lang="en-US" dirty="0"/>
              <a:t>Local Area Network (LAN)</a:t>
            </a:r>
          </a:p>
          <a:p>
            <a:pPr fontAlgn="base"/>
            <a:r>
              <a:rPr lang="en-US" dirty="0"/>
              <a:t>Campus Area Network (CAN)</a:t>
            </a:r>
          </a:p>
          <a:p>
            <a:pPr fontAlgn="base"/>
            <a:r>
              <a:rPr lang="en-US" dirty="0"/>
              <a:t>Metropolitan Area Network (MAN)</a:t>
            </a:r>
          </a:p>
          <a:p>
            <a:pPr fontAlgn="base"/>
            <a:r>
              <a:rPr lang="en-US" dirty="0"/>
              <a:t>Wide Area Network (WAN)</a:t>
            </a:r>
          </a:p>
          <a:p>
            <a:endParaRPr lang="en-IN" dirty="0"/>
          </a:p>
        </p:txBody>
      </p:sp>
    </p:spTree>
    <p:extLst>
      <p:ext uri="{BB962C8B-B14F-4D97-AF65-F5344CB8AC3E}">
        <p14:creationId xmlns:p14="http://schemas.microsoft.com/office/powerpoint/2010/main" val="35990472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B2A9A-F73E-4074-B179-D665D887843C}"/>
              </a:ext>
            </a:extLst>
          </p:cNvPr>
          <p:cNvSpPr>
            <a:spLocks noGrp="1"/>
          </p:cNvSpPr>
          <p:nvPr>
            <p:ph type="title"/>
          </p:nvPr>
        </p:nvSpPr>
        <p:spPr/>
        <p:txBody>
          <a:bodyPr/>
          <a:lstStyle/>
          <a:p>
            <a:r>
              <a:rPr lang="en-US" dirty="0"/>
              <a:t>Personal Area Network (PAN)</a:t>
            </a:r>
            <a:br>
              <a:rPr lang="en-US" dirty="0"/>
            </a:br>
            <a:endParaRPr lang="en-IN" dirty="0"/>
          </a:p>
        </p:txBody>
      </p:sp>
      <p:sp>
        <p:nvSpPr>
          <p:cNvPr id="3" name="Content Placeholder 2">
            <a:extLst>
              <a:ext uri="{FF2B5EF4-FFF2-40B4-BE49-F238E27FC236}">
                <a16:creationId xmlns:a16="http://schemas.microsoft.com/office/drawing/2014/main" id="{6DFB02E1-3EC8-D090-7FD9-2884DA471B18}"/>
              </a:ext>
            </a:extLst>
          </p:cNvPr>
          <p:cNvSpPr>
            <a:spLocks noGrp="1"/>
          </p:cNvSpPr>
          <p:nvPr>
            <p:ph idx="1"/>
          </p:nvPr>
        </p:nvSpPr>
        <p:spPr/>
        <p:txBody>
          <a:bodyPr/>
          <a:lstStyle/>
          <a:p>
            <a:pPr algn="just"/>
            <a:r>
              <a:rPr lang="en-US" dirty="0"/>
              <a:t>PAN is the most basic type of computer network. It is a type of network designed to connect devices within a short range, typically around one person. It allows your personal devices, like smartphones, tablets, laptops, and wearables, to communicate and share data with each other. PAN offers a network range of 1 to 100 meters from person to device providing communication. Its transmission speed is very high with very easy maintenance and very low cost. This uses Bluetooth</a:t>
            </a:r>
            <a:r>
              <a:rPr lang="en-US" b="1" dirty="0"/>
              <a:t>, </a:t>
            </a:r>
            <a:r>
              <a:rPr lang="en-US" dirty="0"/>
              <a:t>IrDA</a:t>
            </a:r>
            <a:r>
              <a:rPr lang="en-US" b="1" dirty="0"/>
              <a:t>, </a:t>
            </a:r>
            <a:r>
              <a:rPr lang="en-US" dirty="0"/>
              <a:t>and Zigbee as technology. Examples of PAN are USB, computer, phone, tablet, printer, PDA, etc.</a:t>
            </a:r>
            <a:endParaRPr lang="en-IN" dirty="0"/>
          </a:p>
        </p:txBody>
      </p:sp>
    </p:spTree>
    <p:extLst>
      <p:ext uri="{BB962C8B-B14F-4D97-AF65-F5344CB8AC3E}">
        <p14:creationId xmlns:p14="http://schemas.microsoft.com/office/powerpoint/2010/main" val="19998242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15FCB5-E3AF-7617-71BE-CE0EAF4E5407}"/>
              </a:ext>
            </a:extLst>
          </p:cNvPr>
          <p:cNvSpPr>
            <a:spLocks noGrp="1"/>
          </p:cNvSpPr>
          <p:nvPr>
            <p:ph idx="1"/>
          </p:nvPr>
        </p:nvSpPr>
        <p:spPr>
          <a:xfrm>
            <a:off x="838200" y="750013"/>
            <a:ext cx="10515600" cy="5426950"/>
          </a:xfrm>
        </p:spPr>
        <p:txBody>
          <a:bodyPr/>
          <a:lstStyle/>
          <a:p>
            <a:pPr marL="0" indent="0">
              <a:buNone/>
            </a:pPr>
            <a:r>
              <a:rPr lang="en-IN" b="1" dirty="0"/>
              <a:t>Types of PAN</a:t>
            </a:r>
          </a:p>
          <a:p>
            <a:r>
              <a:rPr lang="en-US" b="1" dirty="0"/>
              <a:t>Wired Personal Area Network:</a:t>
            </a:r>
            <a:r>
              <a:rPr lang="en-US" dirty="0"/>
              <a:t> A wired personal area network is constructed using a USB.</a:t>
            </a:r>
          </a:p>
          <a:p>
            <a:endParaRPr lang="en-IN" dirty="0"/>
          </a:p>
        </p:txBody>
      </p:sp>
      <p:pic>
        <p:nvPicPr>
          <p:cNvPr id="5" name="Picture 4">
            <a:extLst>
              <a:ext uri="{FF2B5EF4-FFF2-40B4-BE49-F238E27FC236}">
                <a16:creationId xmlns:a16="http://schemas.microsoft.com/office/drawing/2014/main" id="{C7C36C64-51CB-D275-7C80-A2FE37B85B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1651" y="2223446"/>
            <a:ext cx="8368697" cy="3953517"/>
          </a:xfrm>
          <a:prstGeom prst="rect">
            <a:avLst/>
          </a:prstGeom>
        </p:spPr>
      </p:pic>
    </p:spTree>
    <p:extLst>
      <p:ext uri="{BB962C8B-B14F-4D97-AF65-F5344CB8AC3E}">
        <p14:creationId xmlns:p14="http://schemas.microsoft.com/office/powerpoint/2010/main" val="20772870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B469E3-44AF-D179-9F22-9EEA4D881F69}"/>
              </a:ext>
            </a:extLst>
          </p:cNvPr>
          <p:cNvSpPr>
            <a:spLocks noGrp="1"/>
          </p:cNvSpPr>
          <p:nvPr>
            <p:ph idx="1"/>
          </p:nvPr>
        </p:nvSpPr>
        <p:spPr>
          <a:xfrm>
            <a:off x="934948" y="493160"/>
            <a:ext cx="10418852" cy="5683803"/>
          </a:xfrm>
        </p:spPr>
        <p:txBody>
          <a:bodyPr/>
          <a:lstStyle/>
          <a:p>
            <a:pPr algn="just"/>
            <a:r>
              <a:rPr lang="en-US" b="1" dirty="0"/>
              <a:t>Wireless Personal Area Networks: </a:t>
            </a:r>
            <a:r>
              <a:rPr lang="en-US" dirty="0"/>
              <a:t>Wireless Personal Area Networks are created by simply </a:t>
            </a:r>
            <a:r>
              <a:rPr lang="en-US" dirty="0" err="1"/>
              <a:t>utilising</a:t>
            </a:r>
            <a:r>
              <a:rPr lang="en-US" dirty="0"/>
              <a:t> wireless technologies such as </a:t>
            </a:r>
            <a:r>
              <a:rPr lang="en-US" dirty="0" err="1"/>
              <a:t>WiFi</a:t>
            </a:r>
            <a:r>
              <a:rPr lang="en-US" dirty="0"/>
              <a:t> and Bluetooth. It is a low-range network.</a:t>
            </a:r>
          </a:p>
          <a:p>
            <a:pPr marL="0" indent="0" algn="just">
              <a:buNone/>
            </a:pPr>
            <a:endParaRPr lang="en-IN" dirty="0"/>
          </a:p>
        </p:txBody>
      </p:sp>
      <p:pic>
        <p:nvPicPr>
          <p:cNvPr id="5" name="Picture 4">
            <a:extLst>
              <a:ext uri="{FF2B5EF4-FFF2-40B4-BE49-F238E27FC236}">
                <a16:creationId xmlns:a16="http://schemas.microsoft.com/office/drawing/2014/main" id="{A670EEC7-7582-6AEF-6C39-59E0CF754B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54308" y="1967423"/>
            <a:ext cx="5732837" cy="4209540"/>
          </a:xfrm>
          <a:prstGeom prst="rect">
            <a:avLst/>
          </a:prstGeom>
        </p:spPr>
      </p:pic>
    </p:spTree>
    <p:extLst>
      <p:ext uri="{BB962C8B-B14F-4D97-AF65-F5344CB8AC3E}">
        <p14:creationId xmlns:p14="http://schemas.microsoft.com/office/powerpoint/2010/main" val="17122625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0F546C-829E-7FA1-EE1A-E98FB23528D9}"/>
              </a:ext>
            </a:extLst>
          </p:cNvPr>
          <p:cNvSpPr>
            <a:spLocks noGrp="1"/>
          </p:cNvSpPr>
          <p:nvPr>
            <p:ph idx="1"/>
          </p:nvPr>
        </p:nvSpPr>
        <p:spPr>
          <a:xfrm>
            <a:off x="838200" y="626724"/>
            <a:ext cx="10515600" cy="5550239"/>
          </a:xfrm>
        </p:spPr>
        <p:txBody>
          <a:bodyPr>
            <a:normAutofit fontScale="62500" lnSpcReduction="20000"/>
          </a:bodyPr>
          <a:lstStyle/>
          <a:p>
            <a:pPr marL="0" indent="0" fontAlgn="base">
              <a:buNone/>
            </a:pPr>
            <a:r>
              <a:rPr lang="en-US" b="1" dirty="0"/>
              <a:t>Advantages of PAN</a:t>
            </a:r>
          </a:p>
          <a:p>
            <a:pPr fontAlgn="base"/>
            <a:r>
              <a:rPr lang="en-US" dirty="0"/>
              <a:t>PAN is relatively flexible and provides high efficiency for short network ranges.</a:t>
            </a:r>
          </a:p>
          <a:p>
            <a:pPr fontAlgn="base"/>
            <a:r>
              <a:rPr lang="en-US" dirty="0"/>
              <a:t>It needs easy setup and relatively low cost.</a:t>
            </a:r>
          </a:p>
          <a:p>
            <a:pPr fontAlgn="base"/>
            <a:r>
              <a:rPr lang="en-US" dirty="0"/>
              <a:t>It does not require frequent installations and maintenance</a:t>
            </a:r>
          </a:p>
          <a:p>
            <a:pPr fontAlgn="base"/>
            <a:r>
              <a:rPr lang="en-US" dirty="0"/>
              <a:t>It is easy and portable.</a:t>
            </a:r>
          </a:p>
          <a:p>
            <a:pPr fontAlgn="base"/>
            <a:r>
              <a:rPr lang="en-US" dirty="0"/>
              <a:t>Needs fewer technical skills to use.</a:t>
            </a:r>
          </a:p>
          <a:p>
            <a:pPr marL="0" indent="0" fontAlgn="base">
              <a:buNone/>
            </a:pPr>
            <a:r>
              <a:rPr lang="en-US" b="1" dirty="0"/>
              <a:t>Disadvantages of PAN</a:t>
            </a:r>
          </a:p>
          <a:p>
            <a:pPr fontAlgn="base"/>
            <a:r>
              <a:rPr lang="en-US" dirty="0"/>
              <a:t>Low network coverage area/range.</a:t>
            </a:r>
          </a:p>
          <a:p>
            <a:pPr fontAlgn="base"/>
            <a:r>
              <a:rPr lang="en-US" dirty="0"/>
              <a:t>Limited to relatively low data rates.</a:t>
            </a:r>
          </a:p>
          <a:p>
            <a:pPr fontAlgn="base"/>
            <a:r>
              <a:rPr lang="en-US" dirty="0"/>
              <a:t>Devices are not compatible with each other.</a:t>
            </a:r>
          </a:p>
          <a:p>
            <a:pPr fontAlgn="base"/>
            <a:r>
              <a:rPr lang="en-US" dirty="0"/>
              <a:t>Inbuilt WPAN devices are a little bit costly.</a:t>
            </a:r>
          </a:p>
          <a:p>
            <a:pPr marL="0" indent="0" fontAlgn="base">
              <a:buNone/>
            </a:pPr>
            <a:r>
              <a:rPr lang="en-US" b="1" dirty="0"/>
              <a:t>Applications of PAN</a:t>
            </a:r>
          </a:p>
          <a:p>
            <a:pPr fontAlgn="base"/>
            <a:r>
              <a:rPr lang="en-US" dirty="0"/>
              <a:t>Home and Offices</a:t>
            </a:r>
          </a:p>
          <a:p>
            <a:pPr fontAlgn="base"/>
            <a:r>
              <a:rPr lang="en-US" dirty="0"/>
              <a:t>Organizations and the Business sector</a:t>
            </a:r>
          </a:p>
          <a:p>
            <a:pPr fontAlgn="base"/>
            <a:r>
              <a:rPr lang="en-US" dirty="0"/>
              <a:t>Medical and Hospital</a:t>
            </a:r>
          </a:p>
          <a:p>
            <a:pPr fontAlgn="base"/>
            <a:r>
              <a:rPr lang="en-US" dirty="0"/>
              <a:t>School and College Education</a:t>
            </a:r>
          </a:p>
          <a:p>
            <a:pPr fontAlgn="base"/>
            <a:r>
              <a:rPr lang="en-US" dirty="0"/>
              <a:t>Military and Defense</a:t>
            </a:r>
          </a:p>
          <a:p>
            <a:endParaRPr lang="en-IN" dirty="0"/>
          </a:p>
        </p:txBody>
      </p:sp>
    </p:spTree>
    <p:extLst>
      <p:ext uri="{BB962C8B-B14F-4D97-AF65-F5344CB8AC3E}">
        <p14:creationId xmlns:p14="http://schemas.microsoft.com/office/powerpoint/2010/main" val="11839830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FBBAE-D92C-0CD4-0613-A53EA9F2D7AC}"/>
              </a:ext>
            </a:extLst>
          </p:cNvPr>
          <p:cNvSpPr>
            <a:spLocks noGrp="1"/>
          </p:cNvSpPr>
          <p:nvPr>
            <p:ph type="title"/>
          </p:nvPr>
        </p:nvSpPr>
        <p:spPr/>
        <p:txBody>
          <a:bodyPr/>
          <a:lstStyle/>
          <a:p>
            <a:r>
              <a:rPr lang="en-US" dirty="0"/>
              <a:t>Local Area Network (LAN)</a:t>
            </a:r>
            <a:br>
              <a:rPr lang="en-US" dirty="0"/>
            </a:br>
            <a:endParaRPr lang="en-IN" dirty="0"/>
          </a:p>
        </p:txBody>
      </p:sp>
      <p:sp>
        <p:nvSpPr>
          <p:cNvPr id="3" name="Content Placeholder 2">
            <a:extLst>
              <a:ext uri="{FF2B5EF4-FFF2-40B4-BE49-F238E27FC236}">
                <a16:creationId xmlns:a16="http://schemas.microsoft.com/office/drawing/2014/main" id="{0E12F051-7B5E-C655-E534-B51922015363}"/>
              </a:ext>
            </a:extLst>
          </p:cNvPr>
          <p:cNvSpPr>
            <a:spLocks noGrp="1"/>
          </p:cNvSpPr>
          <p:nvPr>
            <p:ph idx="1"/>
          </p:nvPr>
        </p:nvSpPr>
        <p:spPr/>
        <p:txBody>
          <a:bodyPr/>
          <a:lstStyle/>
          <a:p>
            <a:pPr algn="just"/>
            <a:r>
              <a:rPr lang="en-US" dirty="0"/>
              <a:t>LAN is the most frequently used network. A LAN is a computer network that connects computers through a common communication path, contained within a limited area, that is, locally. A LAN encompasses two or more computers connected over a server. The two important technologies involved in this network are Ethernet</a:t>
            </a:r>
            <a:r>
              <a:rPr lang="en-US" b="1" dirty="0"/>
              <a:t> </a:t>
            </a:r>
            <a:r>
              <a:rPr lang="en-US" dirty="0"/>
              <a:t>and Wi-fi.  It ranges up to 2km &amp; transmission speed is very high with easy maintenance and low cost. Examples of LAN are networking in a home, school, library, laboratory, college, office, etc.</a:t>
            </a:r>
            <a:endParaRPr lang="en-IN" dirty="0"/>
          </a:p>
        </p:txBody>
      </p:sp>
    </p:spTree>
    <p:extLst>
      <p:ext uri="{BB962C8B-B14F-4D97-AF65-F5344CB8AC3E}">
        <p14:creationId xmlns:p14="http://schemas.microsoft.com/office/powerpoint/2010/main" val="9880351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B3CB616-28FE-7C7C-9641-023C2D42BC9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34532" y="327256"/>
            <a:ext cx="6112210" cy="5744771"/>
          </a:xfrm>
        </p:spPr>
      </p:pic>
    </p:spTree>
    <p:extLst>
      <p:ext uri="{BB962C8B-B14F-4D97-AF65-F5344CB8AC3E}">
        <p14:creationId xmlns:p14="http://schemas.microsoft.com/office/powerpoint/2010/main" val="13360524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F7E667-B9CA-580E-106C-0407FC39A64A}"/>
              </a:ext>
            </a:extLst>
          </p:cNvPr>
          <p:cNvSpPr>
            <a:spLocks noGrp="1"/>
          </p:cNvSpPr>
          <p:nvPr>
            <p:ph idx="1"/>
          </p:nvPr>
        </p:nvSpPr>
        <p:spPr>
          <a:xfrm>
            <a:off x="838200" y="575353"/>
            <a:ext cx="10515600" cy="5601610"/>
          </a:xfrm>
        </p:spPr>
        <p:txBody>
          <a:bodyPr>
            <a:normAutofit fontScale="70000" lnSpcReduction="20000"/>
          </a:bodyPr>
          <a:lstStyle/>
          <a:p>
            <a:pPr marL="0" indent="0" algn="just" fontAlgn="base">
              <a:buNone/>
            </a:pPr>
            <a:r>
              <a:rPr lang="en-US" b="1" dirty="0"/>
              <a:t>Advantages of a LAN</a:t>
            </a:r>
          </a:p>
          <a:p>
            <a:pPr algn="just" fontAlgn="base"/>
            <a:r>
              <a:rPr lang="en-US" b="1" dirty="0"/>
              <a:t>Privacy:</a:t>
            </a:r>
            <a:r>
              <a:rPr lang="en-US" dirty="0"/>
              <a:t> LAN is a private network, thus no outside regulatory body controls it, giving it a privacy.</a:t>
            </a:r>
          </a:p>
          <a:p>
            <a:pPr algn="just" fontAlgn="base"/>
            <a:r>
              <a:rPr lang="en-US" b="1" dirty="0"/>
              <a:t>High Speed:</a:t>
            </a:r>
            <a:r>
              <a:rPr lang="en-US" dirty="0"/>
              <a:t> LAN offers a much higher speed(around 100 </a:t>
            </a:r>
            <a:r>
              <a:rPr lang="en-US" dirty="0" err="1"/>
              <a:t>mbps</a:t>
            </a:r>
            <a:r>
              <a:rPr lang="en-US" dirty="0"/>
              <a:t>) and data transfer rate comparatively to WAN.</a:t>
            </a:r>
          </a:p>
          <a:p>
            <a:pPr algn="just" fontAlgn="base"/>
            <a:r>
              <a:rPr lang="en-US" b="1" dirty="0"/>
              <a:t>Supports different transmission mediums:</a:t>
            </a:r>
            <a:r>
              <a:rPr lang="en-US" dirty="0"/>
              <a:t> LAN support a variety of communications transmission medium such as an Ethernet cable (thin cable, thick cable, and twisted pair), fiber and wireless transmission.</a:t>
            </a:r>
          </a:p>
          <a:p>
            <a:pPr algn="just" fontAlgn="base"/>
            <a:r>
              <a:rPr lang="en-US" b="1" dirty="0"/>
              <a:t>Inexpensive and Simple:</a:t>
            </a:r>
            <a:r>
              <a:rPr lang="en-US" dirty="0"/>
              <a:t> A LAN usually has low cost, installation, expansion and maintenance and LAN installation is relatively easy to use, good scalability.</a:t>
            </a:r>
          </a:p>
          <a:p>
            <a:pPr algn="just" fontAlgn="base"/>
            <a:endParaRPr lang="en-US" dirty="0"/>
          </a:p>
          <a:p>
            <a:pPr marL="0" indent="0" algn="just" fontAlgn="base">
              <a:buNone/>
            </a:pPr>
            <a:r>
              <a:rPr lang="en-US" b="1" dirty="0"/>
              <a:t>Disadvantages of LAN</a:t>
            </a:r>
          </a:p>
          <a:p>
            <a:pPr algn="just" fontAlgn="base"/>
            <a:r>
              <a:rPr lang="en-US" dirty="0"/>
              <a:t>The initial setup costs of installing Local Area Networks is high because there is special software required to make a server.</a:t>
            </a:r>
          </a:p>
          <a:p>
            <a:pPr algn="just" fontAlgn="base"/>
            <a:r>
              <a:rPr lang="en-US" dirty="0"/>
              <a:t>Communication devices like an ethernet cable, switches, hubs, routers, cables are costly.</a:t>
            </a:r>
          </a:p>
          <a:p>
            <a:pPr algn="just" fontAlgn="base"/>
            <a:r>
              <a:rPr lang="en-US" dirty="0"/>
              <a:t>LAN administrator can see and check personal data files as well as Internet history of each and every LAN user. Hence, the privacy of the users are violated</a:t>
            </a:r>
          </a:p>
          <a:p>
            <a:pPr algn="just" fontAlgn="base"/>
            <a:r>
              <a:rPr lang="en-US" dirty="0"/>
              <a:t>LANs are restricted in size and cover only a limited area</a:t>
            </a:r>
          </a:p>
          <a:p>
            <a:pPr algn="just" fontAlgn="base"/>
            <a:r>
              <a:rPr lang="en-US" dirty="0"/>
              <a:t>Since all the data is stored in a single server computer, if it can be accessed by an unauthorized user, can cause a serious data security threat.</a:t>
            </a:r>
          </a:p>
          <a:p>
            <a:pPr algn="just"/>
            <a:endParaRPr lang="en-IN" dirty="0"/>
          </a:p>
        </p:txBody>
      </p:sp>
    </p:spTree>
    <p:extLst>
      <p:ext uri="{BB962C8B-B14F-4D97-AF65-F5344CB8AC3E}">
        <p14:creationId xmlns:p14="http://schemas.microsoft.com/office/powerpoint/2010/main" val="23869987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E2D2F-3374-7ABE-BE3F-711541DF7FE9}"/>
              </a:ext>
            </a:extLst>
          </p:cNvPr>
          <p:cNvSpPr>
            <a:spLocks noGrp="1"/>
          </p:cNvSpPr>
          <p:nvPr>
            <p:ph type="title"/>
          </p:nvPr>
        </p:nvSpPr>
        <p:spPr/>
        <p:txBody>
          <a:bodyPr/>
          <a:lstStyle/>
          <a:p>
            <a:r>
              <a:rPr lang="en-US" dirty="0"/>
              <a:t>Campus Area Network (CAN)</a:t>
            </a:r>
            <a:br>
              <a:rPr lang="en-US" dirty="0"/>
            </a:br>
            <a:endParaRPr lang="en-IN" dirty="0"/>
          </a:p>
        </p:txBody>
      </p:sp>
      <p:sp>
        <p:nvSpPr>
          <p:cNvPr id="3" name="Content Placeholder 2">
            <a:extLst>
              <a:ext uri="{FF2B5EF4-FFF2-40B4-BE49-F238E27FC236}">
                <a16:creationId xmlns:a16="http://schemas.microsoft.com/office/drawing/2014/main" id="{C91832EA-F945-BC8E-1A76-06F70B45CE7C}"/>
              </a:ext>
            </a:extLst>
          </p:cNvPr>
          <p:cNvSpPr>
            <a:spLocks noGrp="1"/>
          </p:cNvSpPr>
          <p:nvPr>
            <p:ph idx="1"/>
          </p:nvPr>
        </p:nvSpPr>
        <p:spPr>
          <a:xfrm>
            <a:off x="636998" y="1140431"/>
            <a:ext cx="10716802" cy="5036532"/>
          </a:xfrm>
        </p:spPr>
        <p:txBody>
          <a:bodyPr/>
          <a:lstStyle/>
          <a:p>
            <a:pPr algn="just"/>
            <a:r>
              <a:rPr lang="en-US" dirty="0"/>
              <a:t>CAN is bigger than a LAN but smaller than a MAN. This is a type of computer network that is usually used in places like a school or colleges. This network covers a limited geographical area that is, it spreads across several buildings within the campus. CAN mainly use Ethernet technology with a range from 1km to 5km. Its transmission speed is very high with a moderate maintenance cost and moderate cost. Examples of CAN are networks that cover schools, colleges, buildings, etc.</a:t>
            </a:r>
            <a:endParaRPr lang="en-IN" dirty="0"/>
          </a:p>
        </p:txBody>
      </p:sp>
    </p:spTree>
    <p:extLst>
      <p:ext uri="{BB962C8B-B14F-4D97-AF65-F5344CB8AC3E}">
        <p14:creationId xmlns:p14="http://schemas.microsoft.com/office/powerpoint/2010/main" val="21226042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8B4EC79-502C-24B5-6711-D726CF9E4D1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35668" y="627125"/>
            <a:ext cx="5671174" cy="5603749"/>
          </a:xfrm>
        </p:spPr>
      </p:pic>
    </p:spTree>
    <p:extLst>
      <p:ext uri="{BB962C8B-B14F-4D97-AF65-F5344CB8AC3E}">
        <p14:creationId xmlns:p14="http://schemas.microsoft.com/office/powerpoint/2010/main" val="20321716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F35605-694E-82EB-BF11-003BF9CA5232}"/>
              </a:ext>
            </a:extLst>
          </p:cNvPr>
          <p:cNvSpPr>
            <a:spLocks noGrp="1"/>
          </p:cNvSpPr>
          <p:nvPr>
            <p:ph idx="1"/>
          </p:nvPr>
        </p:nvSpPr>
        <p:spPr>
          <a:xfrm>
            <a:off x="750013" y="678094"/>
            <a:ext cx="10603787" cy="5498869"/>
          </a:xfrm>
        </p:spPr>
        <p:txBody>
          <a:bodyPr>
            <a:normAutofit/>
          </a:bodyPr>
          <a:lstStyle/>
          <a:p>
            <a:pPr marL="0" indent="0" fontAlgn="base">
              <a:buNone/>
            </a:pPr>
            <a:r>
              <a:rPr lang="en-US" b="1" dirty="0"/>
              <a:t>Advantages of CAN</a:t>
            </a:r>
          </a:p>
          <a:p>
            <a:pPr fontAlgn="base"/>
            <a:r>
              <a:rPr lang="en-US" b="1" dirty="0"/>
              <a:t>Speed: </a:t>
            </a:r>
            <a:r>
              <a:rPr lang="en-US" dirty="0"/>
              <a:t>Communication within a CAN takes place over Local Area Network (LAN) so data transfer rate between systems is little bit fast than Internet.</a:t>
            </a:r>
          </a:p>
          <a:p>
            <a:pPr fontAlgn="base"/>
            <a:r>
              <a:rPr lang="en-US" b="1" dirty="0"/>
              <a:t>Security: </a:t>
            </a:r>
            <a:r>
              <a:rPr lang="en-US" dirty="0"/>
              <a:t>Network administrators of campus take care of network by continuous monitoring, tracking and limiting access. To protect network from unauthorized access firewall is placed between network and internet.</a:t>
            </a:r>
          </a:p>
          <a:p>
            <a:pPr fontAlgn="base"/>
            <a:r>
              <a:rPr lang="en-US" b="1" dirty="0"/>
              <a:t>Cost effective: </a:t>
            </a:r>
            <a:r>
              <a:rPr lang="en-US" dirty="0"/>
              <a:t>With a little effort and maintenance, network works well by providing fast data transfer rate with multi-departmental network access. It can be enabled wirelessly, where wiring and cabling costs can be managed. So to work with in a campus using CAN is cost-effective in view of performance</a:t>
            </a:r>
          </a:p>
          <a:p>
            <a:endParaRPr lang="en-IN" dirty="0"/>
          </a:p>
        </p:txBody>
      </p:sp>
    </p:spTree>
    <p:extLst>
      <p:ext uri="{BB962C8B-B14F-4D97-AF65-F5344CB8AC3E}">
        <p14:creationId xmlns:p14="http://schemas.microsoft.com/office/powerpoint/2010/main" val="35434739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C076B-D7F3-12F7-BA2B-BD33734F98DB}"/>
              </a:ext>
            </a:extLst>
          </p:cNvPr>
          <p:cNvSpPr>
            <a:spLocks noGrp="1"/>
          </p:cNvSpPr>
          <p:nvPr>
            <p:ph type="title"/>
          </p:nvPr>
        </p:nvSpPr>
        <p:spPr/>
        <p:txBody>
          <a:bodyPr/>
          <a:lstStyle/>
          <a:p>
            <a:r>
              <a:rPr lang="en-US" dirty="0"/>
              <a:t>Metropolitan Area Network (MAN)</a:t>
            </a:r>
            <a:br>
              <a:rPr lang="en-US" dirty="0"/>
            </a:br>
            <a:endParaRPr lang="en-IN" dirty="0"/>
          </a:p>
        </p:txBody>
      </p:sp>
      <p:sp>
        <p:nvSpPr>
          <p:cNvPr id="3" name="Content Placeholder 2">
            <a:extLst>
              <a:ext uri="{FF2B5EF4-FFF2-40B4-BE49-F238E27FC236}">
                <a16:creationId xmlns:a16="http://schemas.microsoft.com/office/drawing/2014/main" id="{D27A6922-8BCF-C85A-734B-1D16770486FF}"/>
              </a:ext>
            </a:extLst>
          </p:cNvPr>
          <p:cNvSpPr>
            <a:spLocks noGrp="1"/>
          </p:cNvSpPr>
          <p:nvPr>
            <p:ph idx="1"/>
          </p:nvPr>
        </p:nvSpPr>
        <p:spPr>
          <a:xfrm>
            <a:off x="838200" y="1140431"/>
            <a:ext cx="10515600" cy="5036532"/>
          </a:xfrm>
        </p:spPr>
        <p:txBody>
          <a:bodyPr/>
          <a:lstStyle/>
          <a:p>
            <a:pPr algn="just"/>
            <a:r>
              <a:rPr lang="en-US" dirty="0"/>
              <a:t>A MAN is larger than a LAN but smaller than a WAN. This is the type of computer network that connects computers over a geographical distance through a shared communication path over a city, town, or metropolitan area. This network mainly uses FDDI, CDDI, and ATM as the technology with a range from 5km to 50km. Its transmission speed is average. It is difficult to maintain and it comes with a high cost. Examples of MAN are networking in towns, cities, a single large city, a large area within multiple buildings, etc.</a:t>
            </a:r>
            <a:endParaRPr lang="en-IN" dirty="0"/>
          </a:p>
        </p:txBody>
      </p:sp>
    </p:spTree>
    <p:extLst>
      <p:ext uri="{BB962C8B-B14F-4D97-AF65-F5344CB8AC3E}">
        <p14:creationId xmlns:p14="http://schemas.microsoft.com/office/powerpoint/2010/main" val="24703665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BE14DC3-3BA9-B634-E47E-B1B56E88A3C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4948" y="689670"/>
            <a:ext cx="10202265" cy="5511669"/>
          </a:xfrm>
        </p:spPr>
      </p:pic>
    </p:spTree>
    <p:extLst>
      <p:ext uri="{BB962C8B-B14F-4D97-AF65-F5344CB8AC3E}">
        <p14:creationId xmlns:p14="http://schemas.microsoft.com/office/powerpoint/2010/main" val="12386101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F40DEC-C591-3B1A-0747-B19F202BBC8F}"/>
              </a:ext>
            </a:extLst>
          </p:cNvPr>
          <p:cNvSpPr>
            <a:spLocks noGrp="1"/>
          </p:cNvSpPr>
          <p:nvPr>
            <p:ph idx="1"/>
          </p:nvPr>
        </p:nvSpPr>
        <p:spPr>
          <a:xfrm>
            <a:off x="811658" y="400692"/>
            <a:ext cx="10542142" cy="5776271"/>
          </a:xfrm>
        </p:spPr>
        <p:txBody>
          <a:bodyPr>
            <a:normAutofit fontScale="85000" lnSpcReduction="20000"/>
          </a:bodyPr>
          <a:lstStyle/>
          <a:p>
            <a:pPr marL="0" indent="0" fontAlgn="base">
              <a:buNone/>
            </a:pPr>
            <a:r>
              <a:rPr lang="en-US" b="1" dirty="0"/>
              <a:t>Advantages of MAN</a:t>
            </a:r>
          </a:p>
          <a:p>
            <a:pPr fontAlgn="base"/>
            <a:r>
              <a:rPr lang="en-US" dirty="0"/>
              <a:t>MAN offers high-speed connectivity in which the speed ranges from 10-100 Mbps.</a:t>
            </a:r>
          </a:p>
          <a:p>
            <a:pPr fontAlgn="base"/>
            <a:r>
              <a:rPr lang="en-US" dirty="0"/>
              <a:t>The security level in MAN is high and strict as compared to WAN.</a:t>
            </a:r>
          </a:p>
          <a:p>
            <a:pPr fontAlgn="base"/>
            <a:r>
              <a:rPr lang="en-US" dirty="0"/>
              <a:t>It support to transmit data in both directions concurrently because of dual bus architecture.</a:t>
            </a:r>
          </a:p>
          <a:p>
            <a:pPr fontAlgn="base"/>
            <a:r>
              <a:rPr lang="en-US" dirty="0"/>
              <a:t>MAN can serve multiple users at a time with the same high-speed internet to all the users.</a:t>
            </a:r>
          </a:p>
          <a:p>
            <a:pPr fontAlgn="base"/>
            <a:r>
              <a:rPr lang="en-US" dirty="0"/>
              <a:t>MAN allows for centralized management and control of the network, making it easier to monitor and manage network resources and security.</a:t>
            </a:r>
          </a:p>
          <a:p>
            <a:pPr marL="0" indent="0" fontAlgn="base">
              <a:buNone/>
            </a:pPr>
            <a:r>
              <a:rPr lang="en-US" b="1" dirty="0"/>
              <a:t>Disadvantages of MAN</a:t>
            </a:r>
          </a:p>
          <a:p>
            <a:pPr fontAlgn="base"/>
            <a:r>
              <a:rPr lang="en-US" dirty="0"/>
              <a:t>The architecture of MAN is quite complicated hence, it is hard to design and maintain.</a:t>
            </a:r>
          </a:p>
          <a:p>
            <a:pPr fontAlgn="base"/>
            <a:r>
              <a:rPr lang="en-US" dirty="0"/>
              <a:t>This network is highly expensive because it required the high cost to set up fiber optics.</a:t>
            </a:r>
          </a:p>
          <a:p>
            <a:pPr fontAlgn="base"/>
            <a:r>
              <a:rPr lang="en-US" dirty="0"/>
              <a:t>It provides less fault tolerance.</a:t>
            </a:r>
          </a:p>
          <a:p>
            <a:pPr fontAlgn="base"/>
            <a:r>
              <a:rPr lang="en-US" dirty="0"/>
              <a:t>The Data transfer rate in MAN is low when compare to LANs.</a:t>
            </a:r>
          </a:p>
          <a:p>
            <a:pPr marL="0" indent="0">
              <a:buNone/>
            </a:pPr>
            <a:endParaRPr lang="en-IN" dirty="0"/>
          </a:p>
        </p:txBody>
      </p:sp>
    </p:spTree>
    <p:extLst>
      <p:ext uri="{BB962C8B-B14F-4D97-AF65-F5344CB8AC3E}">
        <p14:creationId xmlns:p14="http://schemas.microsoft.com/office/powerpoint/2010/main" val="25777795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7B7A8-14E0-04C6-81D0-A24B33513C4E}"/>
              </a:ext>
            </a:extLst>
          </p:cNvPr>
          <p:cNvSpPr>
            <a:spLocks noGrp="1"/>
          </p:cNvSpPr>
          <p:nvPr>
            <p:ph type="title"/>
          </p:nvPr>
        </p:nvSpPr>
        <p:spPr/>
        <p:txBody>
          <a:bodyPr/>
          <a:lstStyle/>
          <a:p>
            <a:r>
              <a:rPr lang="en-US" dirty="0"/>
              <a:t>Wide Area Network (WAN)</a:t>
            </a:r>
            <a:br>
              <a:rPr lang="en-US" dirty="0"/>
            </a:br>
            <a:endParaRPr lang="en-IN" dirty="0"/>
          </a:p>
        </p:txBody>
      </p:sp>
      <p:sp>
        <p:nvSpPr>
          <p:cNvPr id="3" name="Content Placeholder 2">
            <a:extLst>
              <a:ext uri="{FF2B5EF4-FFF2-40B4-BE49-F238E27FC236}">
                <a16:creationId xmlns:a16="http://schemas.microsoft.com/office/drawing/2014/main" id="{1E49169A-7D5C-C537-BF25-FE3A32080F6E}"/>
              </a:ext>
            </a:extLst>
          </p:cNvPr>
          <p:cNvSpPr>
            <a:spLocks noGrp="1"/>
          </p:cNvSpPr>
          <p:nvPr>
            <p:ph idx="1"/>
          </p:nvPr>
        </p:nvSpPr>
        <p:spPr>
          <a:xfrm>
            <a:off x="838200" y="1181528"/>
            <a:ext cx="10515600" cy="4995435"/>
          </a:xfrm>
        </p:spPr>
        <p:txBody>
          <a:bodyPr/>
          <a:lstStyle/>
          <a:p>
            <a:pPr algn="just"/>
            <a:r>
              <a:rPr lang="en-US" dirty="0"/>
              <a:t>WAN is a type of computer network that connects computers over a large geographical distance through a shared communication path. It is not restrained to a single location but extends over many locations. WAN can also be defined as a group of local area networks that communicate with each other with a range above 50km. Here we use Leased-Line &amp; Dial-up technology. Its transmission speed is very low and it comes with very high maintenance and very high cost. The most common example of WAN is the Internet.</a:t>
            </a:r>
            <a:endParaRPr lang="en-IN" dirty="0"/>
          </a:p>
        </p:txBody>
      </p:sp>
    </p:spTree>
    <p:extLst>
      <p:ext uri="{BB962C8B-B14F-4D97-AF65-F5344CB8AC3E}">
        <p14:creationId xmlns:p14="http://schemas.microsoft.com/office/powerpoint/2010/main" val="4675085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F7E8349-C711-DB5D-FC1F-0695B751975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9492" y="147995"/>
            <a:ext cx="6958851" cy="5938538"/>
          </a:xfrm>
        </p:spPr>
      </p:pic>
    </p:spTree>
    <p:extLst>
      <p:ext uri="{BB962C8B-B14F-4D97-AF65-F5344CB8AC3E}">
        <p14:creationId xmlns:p14="http://schemas.microsoft.com/office/powerpoint/2010/main" val="40901197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4F88BA-CC55-7A30-1ED3-3F0489995A39}"/>
              </a:ext>
            </a:extLst>
          </p:cNvPr>
          <p:cNvSpPr>
            <a:spLocks noGrp="1"/>
          </p:cNvSpPr>
          <p:nvPr>
            <p:ph idx="1"/>
          </p:nvPr>
        </p:nvSpPr>
        <p:spPr>
          <a:xfrm>
            <a:off x="719191" y="452063"/>
            <a:ext cx="10634609" cy="5724900"/>
          </a:xfrm>
        </p:spPr>
        <p:txBody>
          <a:bodyPr>
            <a:normAutofit fontScale="92500" lnSpcReduction="20000"/>
          </a:bodyPr>
          <a:lstStyle/>
          <a:p>
            <a:pPr marL="0" indent="0" algn="just" fontAlgn="base">
              <a:buNone/>
            </a:pPr>
            <a:r>
              <a:rPr lang="en-US" b="1" dirty="0"/>
              <a:t>Advantages of WAN</a:t>
            </a:r>
          </a:p>
          <a:p>
            <a:pPr algn="just" fontAlgn="base"/>
            <a:r>
              <a:rPr lang="en-US" dirty="0"/>
              <a:t>It covers large geographical area which enhances the reach of </a:t>
            </a:r>
            <a:r>
              <a:rPr lang="en-US" dirty="0" err="1"/>
              <a:t>organisation</a:t>
            </a:r>
            <a:r>
              <a:rPr lang="en-US" dirty="0"/>
              <a:t> to transmit data quickly and cheaply.</a:t>
            </a:r>
          </a:p>
          <a:p>
            <a:pPr algn="just" fontAlgn="base"/>
            <a:r>
              <a:rPr lang="en-US" dirty="0"/>
              <a:t>The data can be stored in </a:t>
            </a:r>
            <a:r>
              <a:rPr lang="en-US" dirty="0" err="1"/>
              <a:t>centralised</a:t>
            </a:r>
            <a:r>
              <a:rPr lang="en-US" dirty="0"/>
              <a:t> manner because of remote access to data provided by WAN.</a:t>
            </a:r>
          </a:p>
          <a:p>
            <a:pPr algn="just" fontAlgn="base"/>
            <a:r>
              <a:rPr lang="en-US" dirty="0"/>
              <a:t>The travel charges that are needed to cover the geographical area of work can be </a:t>
            </a:r>
            <a:r>
              <a:rPr lang="en-US" dirty="0" err="1"/>
              <a:t>minimised</a:t>
            </a:r>
            <a:r>
              <a:rPr lang="en-US" dirty="0"/>
              <a:t>.</a:t>
            </a:r>
          </a:p>
          <a:p>
            <a:pPr algn="just" fontAlgn="base"/>
            <a:r>
              <a:rPr lang="en-US" dirty="0"/>
              <a:t>WAN enables a user or </a:t>
            </a:r>
            <a:r>
              <a:rPr lang="en-US" dirty="0" err="1"/>
              <a:t>organisation</a:t>
            </a:r>
            <a:r>
              <a:rPr lang="en-US" dirty="0"/>
              <a:t> to connect with the world very easily and allows to exchange data and do business at global level.</a:t>
            </a:r>
          </a:p>
          <a:p>
            <a:pPr marL="0" indent="0" algn="just" fontAlgn="base">
              <a:buNone/>
            </a:pPr>
            <a:r>
              <a:rPr lang="en-US" b="1" dirty="0"/>
              <a:t>Disadvantages of WAN</a:t>
            </a:r>
          </a:p>
          <a:p>
            <a:pPr algn="just" fontAlgn="base"/>
            <a:r>
              <a:rPr lang="en-US" dirty="0"/>
              <a:t>Traffic congestion in Wide Area Network is very high.</a:t>
            </a:r>
          </a:p>
          <a:p>
            <a:pPr algn="just" fontAlgn="base"/>
            <a:r>
              <a:rPr lang="en-US" dirty="0"/>
              <a:t>The fault tolerance ability of WAN is very less.</a:t>
            </a:r>
          </a:p>
          <a:p>
            <a:pPr algn="just" fontAlgn="base"/>
            <a:r>
              <a:rPr lang="en-US" dirty="0"/>
              <a:t>Noise and error are present in large amount due to multiple connection point.</a:t>
            </a:r>
          </a:p>
          <a:p>
            <a:pPr algn="just" fontAlgn="base"/>
            <a:r>
              <a:rPr lang="en-US" dirty="0"/>
              <a:t>The data transfer rate is slow in comparison to LAN because of large distances and high number of connected system within the network.</a:t>
            </a:r>
          </a:p>
          <a:p>
            <a:pPr algn="just"/>
            <a:endParaRPr lang="en-IN" dirty="0"/>
          </a:p>
        </p:txBody>
      </p:sp>
    </p:spTree>
    <p:extLst>
      <p:ext uri="{BB962C8B-B14F-4D97-AF65-F5344CB8AC3E}">
        <p14:creationId xmlns:p14="http://schemas.microsoft.com/office/powerpoint/2010/main" val="25591586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0A91FE9-9DB4-8D75-DDC4-FED9E3B1955E}"/>
              </a:ext>
            </a:extLst>
          </p:cNvPr>
          <p:cNvGraphicFramePr>
            <a:graphicFrameLocks noGrp="1"/>
          </p:cNvGraphicFramePr>
          <p:nvPr>
            <p:ph idx="1"/>
            <p:extLst>
              <p:ext uri="{D42A27DB-BD31-4B8C-83A1-F6EECF244321}">
                <p14:modId xmlns:p14="http://schemas.microsoft.com/office/powerpoint/2010/main" val="739264836"/>
              </p:ext>
            </p:extLst>
          </p:nvPr>
        </p:nvGraphicFramePr>
        <p:xfrm>
          <a:off x="838200" y="1047963"/>
          <a:ext cx="10515600" cy="5291193"/>
        </p:xfrm>
        <a:graphic>
          <a:graphicData uri="http://schemas.openxmlformats.org/drawingml/2006/table">
            <a:tbl>
              <a:tblPr/>
              <a:tblGrid>
                <a:gridCol w="1752600">
                  <a:extLst>
                    <a:ext uri="{9D8B030D-6E8A-4147-A177-3AD203B41FA5}">
                      <a16:colId xmlns:a16="http://schemas.microsoft.com/office/drawing/2014/main" val="3030274636"/>
                    </a:ext>
                  </a:extLst>
                </a:gridCol>
                <a:gridCol w="1752600">
                  <a:extLst>
                    <a:ext uri="{9D8B030D-6E8A-4147-A177-3AD203B41FA5}">
                      <a16:colId xmlns:a16="http://schemas.microsoft.com/office/drawing/2014/main" val="1570179471"/>
                    </a:ext>
                  </a:extLst>
                </a:gridCol>
                <a:gridCol w="1752600">
                  <a:extLst>
                    <a:ext uri="{9D8B030D-6E8A-4147-A177-3AD203B41FA5}">
                      <a16:colId xmlns:a16="http://schemas.microsoft.com/office/drawing/2014/main" val="2911671497"/>
                    </a:ext>
                  </a:extLst>
                </a:gridCol>
                <a:gridCol w="1752600">
                  <a:extLst>
                    <a:ext uri="{9D8B030D-6E8A-4147-A177-3AD203B41FA5}">
                      <a16:colId xmlns:a16="http://schemas.microsoft.com/office/drawing/2014/main" val="2805914436"/>
                    </a:ext>
                  </a:extLst>
                </a:gridCol>
                <a:gridCol w="1752600">
                  <a:extLst>
                    <a:ext uri="{9D8B030D-6E8A-4147-A177-3AD203B41FA5}">
                      <a16:colId xmlns:a16="http://schemas.microsoft.com/office/drawing/2014/main" val="3340108152"/>
                    </a:ext>
                  </a:extLst>
                </a:gridCol>
                <a:gridCol w="1752600">
                  <a:extLst>
                    <a:ext uri="{9D8B030D-6E8A-4147-A177-3AD203B41FA5}">
                      <a16:colId xmlns:a16="http://schemas.microsoft.com/office/drawing/2014/main" val="1904423787"/>
                    </a:ext>
                  </a:extLst>
                </a:gridCol>
              </a:tblGrid>
              <a:tr h="579265">
                <a:tc>
                  <a:txBody>
                    <a:bodyPr/>
                    <a:lstStyle/>
                    <a:p>
                      <a:pPr algn="ctr" fontAlgn="base"/>
                      <a:r>
                        <a:rPr lang="en-IN" sz="1400" b="1">
                          <a:effectLst/>
                        </a:rPr>
                        <a:t>Parameters     </a:t>
                      </a:r>
                    </a:p>
                  </a:txBody>
                  <a:tcPr marL="38100" marR="381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IN" sz="1400" b="1">
                          <a:effectLst/>
                        </a:rPr>
                        <a:t>PAN                          </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IN" sz="1400" b="1">
                          <a:effectLst/>
                        </a:rPr>
                        <a:t>LAN                          </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IN" sz="1400" b="1">
                          <a:effectLst/>
                        </a:rPr>
                        <a:t>CAN                       </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IN" sz="1400" b="1">
                          <a:effectLst/>
                        </a:rPr>
                        <a:t>MAN                       </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IN" sz="1400" b="1">
                          <a:effectLst/>
                        </a:rPr>
                        <a:t>WAN                          </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4077967595"/>
                  </a:ext>
                </a:extLst>
              </a:tr>
              <a:tr h="951032">
                <a:tc>
                  <a:txBody>
                    <a:bodyPr/>
                    <a:lstStyle/>
                    <a:p>
                      <a:pPr algn="ctr" fontAlgn="ctr"/>
                      <a:r>
                        <a:rPr lang="en-IN" sz="1250" b="0">
                          <a:effectLst/>
                        </a:rPr>
                        <a:t>Full Name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Personal Area Network</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Local Area Network</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dirty="0">
                          <a:effectLst/>
                        </a:rPr>
                        <a:t>Campus Area Network</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Metropolitan Area Network</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Wide Area Network</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762910950"/>
                  </a:ext>
                </a:extLst>
              </a:tr>
              <a:tr h="626816">
                <a:tc>
                  <a:txBody>
                    <a:bodyPr/>
                    <a:lstStyle/>
                    <a:p>
                      <a:pPr algn="ctr" fontAlgn="ctr"/>
                      <a:r>
                        <a:rPr lang="en-IN" sz="1250" b="0">
                          <a:effectLst/>
                        </a:rPr>
                        <a:t>Technology</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Bluetooth, Zigbee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Ethernet &amp; Wifi</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Ethernet</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FDDI, CDDi. ATM</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Leased Line, Dial-Up</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631814760"/>
                  </a:ext>
                </a:extLst>
              </a:tr>
              <a:tr h="626816">
                <a:tc>
                  <a:txBody>
                    <a:bodyPr/>
                    <a:lstStyle/>
                    <a:p>
                      <a:pPr algn="ctr" fontAlgn="ctr"/>
                      <a:r>
                        <a:rPr lang="en-IN" sz="1250" b="0">
                          <a:effectLst/>
                        </a:rPr>
                        <a:t>Range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1-100 m</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Upto 2km</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1 - 5 km</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5-50 km</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Above 50 km</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587648958"/>
                  </a:ext>
                </a:extLst>
              </a:tr>
              <a:tr h="626816">
                <a:tc>
                  <a:txBody>
                    <a:bodyPr/>
                    <a:lstStyle/>
                    <a:p>
                      <a:pPr algn="ctr" fontAlgn="ctr"/>
                      <a:r>
                        <a:rPr lang="en-IN" sz="1250" b="0">
                          <a:effectLst/>
                        </a:rPr>
                        <a:t>Transmission Speed</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Very High</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Very High</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High </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Average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Low</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153653327"/>
                  </a:ext>
                </a:extLst>
              </a:tr>
              <a:tr h="626816">
                <a:tc>
                  <a:txBody>
                    <a:bodyPr/>
                    <a:lstStyle/>
                    <a:p>
                      <a:pPr algn="ctr" fontAlgn="ctr"/>
                      <a:r>
                        <a:rPr lang="en-IN" sz="1250" b="0">
                          <a:effectLst/>
                        </a:rPr>
                        <a:t>Ownership</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Private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Private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Private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Private or Public</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Private or Public</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250411899"/>
                  </a:ext>
                </a:extLst>
              </a:tr>
              <a:tr h="626816">
                <a:tc>
                  <a:txBody>
                    <a:bodyPr/>
                    <a:lstStyle/>
                    <a:p>
                      <a:pPr algn="ctr" fontAlgn="ctr"/>
                      <a:r>
                        <a:rPr lang="en-IN" sz="1250" b="0">
                          <a:effectLst/>
                        </a:rPr>
                        <a:t>Maintenance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Very Easy</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Easy</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Moderate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Difficult</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Very Difficult</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518579720"/>
                  </a:ext>
                </a:extLst>
              </a:tr>
              <a:tr h="626816">
                <a:tc>
                  <a:txBody>
                    <a:bodyPr/>
                    <a:lstStyle/>
                    <a:p>
                      <a:pPr algn="ctr" fontAlgn="ctr"/>
                      <a:r>
                        <a:rPr lang="en-IN" sz="1250" b="0">
                          <a:effectLst/>
                        </a:rPr>
                        <a:t>Cost</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Very Low</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Low</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Moderate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High</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dirty="0">
                          <a:effectLst/>
                        </a:rPr>
                        <a:t>Very High</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215349570"/>
                  </a:ext>
                </a:extLst>
              </a:tr>
            </a:tbl>
          </a:graphicData>
        </a:graphic>
      </p:graphicFrame>
      <p:sp>
        <p:nvSpPr>
          <p:cNvPr id="5" name="Rectangle 1">
            <a:extLst>
              <a:ext uri="{FF2B5EF4-FFF2-40B4-BE49-F238E27FC236}">
                <a16:creationId xmlns:a16="http://schemas.microsoft.com/office/drawing/2014/main" id="{3AF06BCE-8B92-8FC6-685B-61CBFC504205}"/>
              </a:ext>
            </a:extLst>
          </p:cNvPr>
          <p:cNvSpPr>
            <a:spLocks noChangeArrowheads="1"/>
          </p:cNvSpPr>
          <p:nvPr/>
        </p:nvSpPr>
        <p:spPr bwMode="auto">
          <a:xfrm>
            <a:off x="318499" y="283748"/>
            <a:ext cx="932893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273239"/>
                </a:solidFill>
                <a:effectLst/>
                <a:latin typeface="Nunito" pitchFamily="2" charset="0"/>
              </a:rPr>
              <a:t>Comparison between Different Computer Networks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042129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D17406-98F5-DCC5-02D5-F5C2396F1665}"/>
              </a:ext>
            </a:extLst>
          </p:cNvPr>
          <p:cNvSpPr>
            <a:spLocks noGrp="1"/>
          </p:cNvSpPr>
          <p:nvPr>
            <p:ph idx="1"/>
          </p:nvPr>
        </p:nvSpPr>
        <p:spPr>
          <a:xfrm>
            <a:off x="708917" y="1037690"/>
            <a:ext cx="10644883" cy="5139273"/>
          </a:xfrm>
        </p:spPr>
        <p:txBody>
          <a:bodyPr>
            <a:normAutofit fontScale="92500" lnSpcReduction="10000"/>
          </a:bodyPr>
          <a:lstStyle/>
          <a:p>
            <a:pPr algn="just"/>
            <a:r>
              <a:rPr lang="en-US" b="1" dirty="0"/>
              <a:t>Network topology </a:t>
            </a:r>
            <a:r>
              <a:rPr lang="en-US" dirty="0"/>
              <a:t>refers to the manner in which the links and nodes of a network are arranged to relate to each other. Topologies are categorized as either physical network topology, which is the physical signal transmission medium, or logical network topology, which refers to the manner in which data travels through the network between devices, independent of physical connection of the devices. Logical network topology examples include twisted pair Ethernet, which is categorized as a logical bus topology, and token ring, which is categorized as a logical ring topology.</a:t>
            </a:r>
          </a:p>
          <a:p>
            <a:pPr algn="just"/>
            <a:r>
              <a:rPr lang="en-US" dirty="0"/>
              <a:t>Physical network topology examples include star, mesh, tree, ring, point-to-point, circular, hybrid, and bus topology networks, each consisting of different configurations of nodes and links. The ideal network topology depends on each business’s size, scale, goals, and budget. A network topology diagram helps visualize the communicating devices, which are modeled as nodes, and the connections between the devices, which are modeled as links between the nodes.</a:t>
            </a:r>
          </a:p>
          <a:p>
            <a:pPr algn="just"/>
            <a:endParaRPr lang="en-US" dirty="0"/>
          </a:p>
          <a:p>
            <a:pPr algn="just"/>
            <a:endParaRPr lang="en-IN" dirty="0"/>
          </a:p>
        </p:txBody>
      </p:sp>
      <p:sp>
        <p:nvSpPr>
          <p:cNvPr id="4" name="Title 1">
            <a:extLst>
              <a:ext uri="{FF2B5EF4-FFF2-40B4-BE49-F238E27FC236}">
                <a16:creationId xmlns:a16="http://schemas.microsoft.com/office/drawing/2014/main" id="{9AC122F1-AEC6-7CC2-1C89-62B25084ED6D}"/>
              </a:ext>
            </a:extLst>
          </p:cNvPr>
          <p:cNvSpPr>
            <a:spLocks noGrp="1"/>
          </p:cNvSpPr>
          <p:nvPr>
            <p:ph type="title"/>
          </p:nvPr>
        </p:nvSpPr>
        <p:spPr>
          <a:xfrm>
            <a:off x="791110" y="168801"/>
            <a:ext cx="10562690" cy="714777"/>
          </a:xfrm>
        </p:spPr>
        <p:txBody>
          <a:bodyPr/>
          <a:lstStyle/>
          <a:p>
            <a:r>
              <a:rPr lang="en-IN" dirty="0"/>
              <a:t>1.8 Rudiments of networks topologies </a:t>
            </a:r>
          </a:p>
        </p:txBody>
      </p:sp>
    </p:spTree>
    <p:extLst>
      <p:ext uri="{BB962C8B-B14F-4D97-AF65-F5344CB8AC3E}">
        <p14:creationId xmlns:p14="http://schemas.microsoft.com/office/powerpoint/2010/main" val="31497345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75A02F4-63F6-6E69-35B4-707C0AB6AA1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5223" y="605012"/>
            <a:ext cx="10380078" cy="5549385"/>
          </a:xfrm>
        </p:spPr>
      </p:pic>
    </p:spTree>
    <p:extLst>
      <p:ext uri="{BB962C8B-B14F-4D97-AF65-F5344CB8AC3E}">
        <p14:creationId xmlns:p14="http://schemas.microsoft.com/office/powerpoint/2010/main" val="375079672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813B2F-BC10-FC37-55C5-C80B5696C520}"/>
              </a:ext>
            </a:extLst>
          </p:cNvPr>
          <p:cNvSpPr>
            <a:spLocks noGrp="1"/>
          </p:cNvSpPr>
          <p:nvPr>
            <p:ph idx="1"/>
          </p:nvPr>
        </p:nvSpPr>
        <p:spPr>
          <a:xfrm>
            <a:off x="585627" y="523982"/>
            <a:ext cx="11024171" cy="6000108"/>
          </a:xfrm>
        </p:spPr>
        <p:txBody>
          <a:bodyPr>
            <a:normAutofit fontScale="77500" lnSpcReduction="20000"/>
          </a:bodyPr>
          <a:lstStyle/>
          <a:p>
            <a:pPr marL="0" indent="0" algn="just">
              <a:buNone/>
            </a:pPr>
            <a:r>
              <a:rPr lang="en-US" dirty="0"/>
              <a:t>Types of Network Topology</a:t>
            </a:r>
          </a:p>
          <a:p>
            <a:pPr algn="just"/>
            <a:r>
              <a:rPr lang="en-US" dirty="0"/>
              <a:t>There are several different logical and physical network topologies from which administrators can choose to build a secure, robust, and easily maintainable topology. The most popular configurations include:</a:t>
            </a:r>
          </a:p>
          <a:p>
            <a:pPr algn="just"/>
            <a:r>
              <a:rPr lang="en-US" dirty="0"/>
              <a:t>Bus network topology -- Also known as backbone network topology, this configuration connects all devices to a main cable via drop lines. The advantages of bus network topology lie in its simplicity, as there is less cable required than in alternative topologies, which makes for easy installation.</a:t>
            </a:r>
          </a:p>
          <a:p>
            <a:pPr algn="just"/>
            <a:r>
              <a:rPr lang="en-US" dirty="0"/>
              <a:t>Mesh network topology -- A dedicated point-to-point link connects each device on the network to another device on the network, only carrying data between two devices. </a:t>
            </a:r>
          </a:p>
          <a:p>
            <a:pPr algn="just"/>
            <a:r>
              <a:rPr lang="en-US" dirty="0"/>
              <a:t>Ring network topology -- Two dedicated point-to-point links connect a device to the two devices located on either side of it, creating a ring of devices through which data is forwarded via repeaters until it reaches the target device. </a:t>
            </a:r>
          </a:p>
          <a:p>
            <a:pPr algn="just"/>
            <a:r>
              <a:rPr lang="en-US" dirty="0"/>
              <a:t>Star network topology -- The most common network topology, star topology connects each device in the network to a central hub. Devices can only communicate with each other indirectly through the central hub. </a:t>
            </a:r>
          </a:p>
          <a:p>
            <a:pPr algn="just"/>
            <a:r>
              <a:rPr lang="en-US" dirty="0"/>
              <a:t>Hybrid network topology -- Any combination of two or more topologies is a hybrid topology. </a:t>
            </a:r>
          </a:p>
          <a:p>
            <a:pPr algn="just"/>
            <a:r>
              <a:rPr lang="en-US" dirty="0"/>
              <a:t>Tree network topology -- This topology consists of a parent-child hierarchy in which star networks are interconnected via bus networks. Nodes branch out linearly from one root node, and two connected nodes only share one mutual connection.</a:t>
            </a:r>
            <a:br>
              <a:rPr lang="en-US" dirty="0"/>
            </a:br>
            <a:endParaRPr lang="en-US" dirty="0"/>
          </a:p>
          <a:p>
            <a:pPr algn="just"/>
            <a:endParaRPr lang="en-IN" dirty="0"/>
          </a:p>
        </p:txBody>
      </p:sp>
    </p:spTree>
    <p:extLst>
      <p:ext uri="{BB962C8B-B14F-4D97-AF65-F5344CB8AC3E}">
        <p14:creationId xmlns:p14="http://schemas.microsoft.com/office/powerpoint/2010/main" val="39902993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BFDA1A-B8EE-B5CF-FC7E-7362FA89BB4F}"/>
              </a:ext>
            </a:extLst>
          </p:cNvPr>
          <p:cNvSpPr>
            <a:spLocks noGrp="1"/>
          </p:cNvSpPr>
          <p:nvPr>
            <p:ph idx="1"/>
          </p:nvPr>
        </p:nvSpPr>
        <p:spPr>
          <a:xfrm>
            <a:off x="821933" y="852755"/>
            <a:ext cx="10531867" cy="5324208"/>
          </a:xfrm>
        </p:spPr>
        <p:txBody>
          <a:bodyPr>
            <a:normAutofit fontScale="92500" lnSpcReduction="10000"/>
          </a:bodyPr>
          <a:lstStyle/>
          <a:p>
            <a:r>
              <a:rPr lang="en-US" dirty="0"/>
              <a:t>Multi-access network topology, also known as a non-broadcast multiple access network (NBMA), consists of multiple linked hosts in which data is transferred directly from one computer to another single host across a switched fabric or over a virtual circuit. </a:t>
            </a:r>
          </a:p>
          <a:p>
            <a:r>
              <a:rPr lang="en-US" dirty="0"/>
              <a:t>Smart grid network topology refers to the network configurations that are necessary to facilitate system operations in a smart grid. A smart grid is an electrical network of smart meters, smart appliances, renewable energy resources, and energy efficient resources that condition and control the production and distribution of electricity.</a:t>
            </a:r>
          </a:p>
          <a:p>
            <a:r>
              <a:rPr lang="en-US" dirty="0"/>
              <a:t>Edge computing is a type of decentralized computing that is conducted at or in close proximity to remote sources of generated data, reducing travel time from client to server and time to insight. Edge network topology consists of the cloud or a data center, which connects to edge gateway servers or edge nodes, which then connect to the sensors and controls in IoT devices, such as connected wind turbines and connected oil platforms.</a:t>
            </a:r>
          </a:p>
          <a:p>
            <a:endParaRPr lang="en-IN" dirty="0"/>
          </a:p>
        </p:txBody>
      </p:sp>
    </p:spTree>
    <p:extLst>
      <p:ext uri="{BB962C8B-B14F-4D97-AF65-F5344CB8AC3E}">
        <p14:creationId xmlns:p14="http://schemas.microsoft.com/office/powerpoint/2010/main" val="42486462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30837-4190-5531-1306-42E36DFC049F}"/>
              </a:ext>
            </a:extLst>
          </p:cNvPr>
          <p:cNvSpPr>
            <a:spLocks noGrp="1"/>
          </p:cNvSpPr>
          <p:nvPr>
            <p:ph type="title"/>
          </p:nvPr>
        </p:nvSpPr>
        <p:spPr/>
        <p:txBody>
          <a:bodyPr/>
          <a:lstStyle/>
          <a:p>
            <a:r>
              <a:rPr lang="en-IN" dirty="0"/>
              <a:t>1.9 </a:t>
            </a:r>
            <a:r>
              <a:rPr lang="en-US" dirty="0"/>
              <a:t>Client Server and Peer to Peer Network Architecture. </a:t>
            </a:r>
            <a:endParaRPr lang="en-IN" dirty="0"/>
          </a:p>
        </p:txBody>
      </p:sp>
      <p:sp>
        <p:nvSpPr>
          <p:cNvPr id="3" name="Content Placeholder 2">
            <a:extLst>
              <a:ext uri="{FF2B5EF4-FFF2-40B4-BE49-F238E27FC236}">
                <a16:creationId xmlns:a16="http://schemas.microsoft.com/office/drawing/2014/main" id="{D5E091FE-1526-A42A-6527-F1282D2F90E5}"/>
              </a:ext>
            </a:extLst>
          </p:cNvPr>
          <p:cNvSpPr>
            <a:spLocks noGrp="1"/>
          </p:cNvSpPr>
          <p:nvPr>
            <p:ph idx="1"/>
          </p:nvPr>
        </p:nvSpPr>
        <p:spPr/>
        <p:txBody>
          <a:bodyPr/>
          <a:lstStyle/>
          <a:p>
            <a:pPr marL="0" indent="0" fontAlgn="base">
              <a:buNone/>
            </a:pPr>
            <a:r>
              <a:rPr lang="en-US" b="1" dirty="0"/>
              <a:t>Client Server</a:t>
            </a:r>
          </a:p>
          <a:p>
            <a:pPr fontAlgn="base"/>
            <a:r>
              <a:rPr lang="en-US" dirty="0"/>
              <a:t>This model are broadly used network model. In the Client-Server Network, Clients and servers are differentiated, and Specific servers and clients are present. In Client-Server Network, a Centralized server is used to store the data because its management is centralized. In Client-Server Network, the Server responds to the services which is requested by the Client. </a:t>
            </a:r>
          </a:p>
          <a:p>
            <a:pPr marL="0" indent="0">
              <a:buNone/>
            </a:pPr>
            <a:endParaRPr lang="en-IN" dirty="0"/>
          </a:p>
        </p:txBody>
      </p:sp>
    </p:spTree>
    <p:extLst>
      <p:ext uri="{BB962C8B-B14F-4D97-AF65-F5344CB8AC3E}">
        <p14:creationId xmlns:p14="http://schemas.microsoft.com/office/powerpoint/2010/main" val="691492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7060301-AE9C-7F29-EDBB-831A0B4E277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93643" y="772091"/>
            <a:ext cx="7506822" cy="5313818"/>
          </a:xfrm>
        </p:spPr>
      </p:pic>
    </p:spTree>
    <p:extLst>
      <p:ext uri="{BB962C8B-B14F-4D97-AF65-F5344CB8AC3E}">
        <p14:creationId xmlns:p14="http://schemas.microsoft.com/office/powerpoint/2010/main" val="11604888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2A4A6-BECC-DD9C-4F44-96D07E8A948C}"/>
              </a:ext>
            </a:extLst>
          </p:cNvPr>
          <p:cNvSpPr>
            <a:spLocks noGrp="1"/>
          </p:cNvSpPr>
          <p:nvPr>
            <p:ph type="title"/>
          </p:nvPr>
        </p:nvSpPr>
        <p:spPr/>
        <p:txBody>
          <a:bodyPr/>
          <a:lstStyle/>
          <a:p>
            <a:r>
              <a:rPr lang="en-US" dirty="0"/>
              <a:t>Peer to Peer Network</a:t>
            </a:r>
            <a:endParaRPr lang="en-IN" dirty="0"/>
          </a:p>
        </p:txBody>
      </p:sp>
      <p:sp>
        <p:nvSpPr>
          <p:cNvPr id="3" name="Content Placeholder 2">
            <a:extLst>
              <a:ext uri="{FF2B5EF4-FFF2-40B4-BE49-F238E27FC236}">
                <a16:creationId xmlns:a16="http://schemas.microsoft.com/office/drawing/2014/main" id="{B80A1C50-80F6-AD4F-9A6D-04A3C90FD80B}"/>
              </a:ext>
            </a:extLst>
          </p:cNvPr>
          <p:cNvSpPr>
            <a:spLocks noGrp="1"/>
          </p:cNvSpPr>
          <p:nvPr>
            <p:ph idx="1"/>
          </p:nvPr>
        </p:nvSpPr>
        <p:spPr>
          <a:xfrm>
            <a:off x="729465" y="1541124"/>
            <a:ext cx="10624335" cy="4635839"/>
          </a:xfrm>
        </p:spPr>
        <p:txBody>
          <a:bodyPr>
            <a:normAutofit fontScale="85000" lnSpcReduction="20000"/>
          </a:bodyPr>
          <a:lstStyle/>
          <a:p>
            <a:pPr algn="just" fontAlgn="base"/>
            <a:r>
              <a:rPr lang="en-US" dirty="0"/>
              <a:t>This model does not differentiate the clients and the servers, In this each and every node is itself client and server. In Peer-to-Peer Network, Each and every node can do both request and respond for the services. </a:t>
            </a:r>
          </a:p>
          <a:p>
            <a:pPr algn="just" fontAlgn="base"/>
            <a:r>
              <a:rPr lang="en-US" dirty="0"/>
              <a:t>Peer-to-peer networks are often created by collections of 12 or fewer machines. All of these computers use unique security to keep their data, but they also share data with every other node.</a:t>
            </a:r>
          </a:p>
          <a:p>
            <a:pPr algn="just" fontAlgn="base"/>
            <a:r>
              <a:rPr lang="en-US" dirty="0"/>
              <a:t>In peer-to-peer networks, the nodes both consume and produce resources. Therefore, as the number of nodes grows, so does the peer-to-peer network's capability for resource sharing. This is distinct from client-server networks where an increase in nodes causes the server to become overloaded.</a:t>
            </a:r>
          </a:p>
          <a:p>
            <a:pPr algn="just" fontAlgn="base"/>
            <a:r>
              <a:rPr lang="en-US" dirty="0"/>
              <a:t>It is challenging to give nodes in peer-to-peer networks proper security because they function as both clients and servers. A denial of service attack may result from this.</a:t>
            </a:r>
          </a:p>
          <a:p>
            <a:pPr algn="just" fontAlgn="base"/>
            <a:r>
              <a:rPr lang="en-US" dirty="0"/>
              <a:t>The majority of contemporary operating systems, including Windows and Mac OS, come with software to implement peer</a:t>
            </a:r>
          </a:p>
          <a:p>
            <a:pPr algn="just"/>
            <a:endParaRPr lang="en-IN" dirty="0"/>
          </a:p>
        </p:txBody>
      </p:sp>
    </p:spTree>
    <p:extLst>
      <p:ext uri="{BB962C8B-B14F-4D97-AF65-F5344CB8AC3E}">
        <p14:creationId xmlns:p14="http://schemas.microsoft.com/office/powerpoint/2010/main" val="2475965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0DE94E1-9FCC-CB34-A615-B6ECDF7B6A4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82940" y="770243"/>
            <a:ext cx="5614425" cy="4883433"/>
          </a:xfrm>
        </p:spPr>
      </p:pic>
    </p:spTree>
    <p:extLst>
      <p:ext uri="{BB962C8B-B14F-4D97-AF65-F5344CB8AC3E}">
        <p14:creationId xmlns:p14="http://schemas.microsoft.com/office/powerpoint/2010/main" val="3166077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9530E-4EBF-8DA6-CDF2-B3CBB94FEBB4}"/>
              </a:ext>
            </a:extLst>
          </p:cNvPr>
          <p:cNvSpPr>
            <a:spLocks noGrp="1"/>
          </p:cNvSpPr>
          <p:nvPr>
            <p:ph type="title"/>
          </p:nvPr>
        </p:nvSpPr>
        <p:spPr/>
        <p:txBody>
          <a:bodyPr/>
          <a:lstStyle/>
          <a:p>
            <a:r>
              <a:rPr lang="en-US" b="1" dirty="0"/>
              <a:t>Difference Between Client-Server and Peer-to-Peer Network</a:t>
            </a:r>
            <a:endParaRPr lang="en-IN" dirty="0"/>
          </a:p>
        </p:txBody>
      </p:sp>
      <p:graphicFrame>
        <p:nvGraphicFramePr>
          <p:cNvPr id="4" name="Content Placeholder 3">
            <a:extLst>
              <a:ext uri="{FF2B5EF4-FFF2-40B4-BE49-F238E27FC236}">
                <a16:creationId xmlns:a16="http://schemas.microsoft.com/office/drawing/2014/main" id="{7BE0714F-E51D-1FB4-6441-8D00E7D27610}"/>
              </a:ext>
            </a:extLst>
          </p:cNvPr>
          <p:cNvGraphicFramePr>
            <a:graphicFrameLocks noGrp="1"/>
          </p:cNvGraphicFramePr>
          <p:nvPr>
            <p:ph idx="1"/>
            <p:extLst>
              <p:ext uri="{D42A27DB-BD31-4B8C-83A1-F6EECF244321}">
                <p14:modId xmlns:p14="http://schemas.microsoft.com/office/powerpoint/2010/main" val="3853719573"/>
              </p:ext>
            </p:extLst>
          </p:nvPr>
        </p:nvGraphicFramePr>
        <p:xfrm>
          <a:off x="626724" y="1808252"/>
          <a:ext cx="11003622" cy="4684624"/>
        </p:xfrm>
        <a:graphic>
          <a:graphicData uri="http://schemas.openxmlformats.org/drawingml/2006/table">
            <a:tbl>
              <a:tblPr/>
              <a:tblGrid>
                <a:gridCol w="5501811">
                  <a:extLst>
                    <a:ext uri="{9D8B030D-6E8A-4147-A177-3AD203B41FA5}">
                      <a16:colId xmlns:a16="http://schemas.microsoft.com/office/drawing/2014/main" val="4183640752"/>
                    </a:ext>
                  </a:extLst>
                </a:gridCol>
                <a:gridCol w="5501811">
                  <a:extLst>
                    <a:ext uri="{9D8B030D-6E8A-4147-A177-3AD203B41FA5}">
                      <a16:colId xmlns:a16="http://schemas.microsoft.com/office/drawing/2014/main" val="2285417096"/>
                    </a:ext>
                  </a:extLst>
                </a:gridCol>
              </a:tblGrid>
              <a:tr h="456869">
                <a:tc>
                  <a:txBody>
                    <a:bodyPr/>
                    <a:lstStyle/>
                    <a:p>
                      <a:pPr algn="ctr" fontAlgn="base"/>
                      <a:r>
                        <a:rPr lang="en-IN" sz="1400" b="1">
                          <a:effectLst/>
                        </a:rPr>
                        <a:t>Client-Server Network</a:t>
                      </a:r>
                    </a:p>
                  </a:txBody>
                  <a:tcPr marL="38100" marR="381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IN" sz="1400" b="1">
                          <a:effectLst/>
                        </a:rPr>
                        <a:t>Peer-to-Peer Network</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4096445489"/>
                  </a:ext>
                </a:extLst>
              </a:tr>
              <a:tr h="750085">
                <a:tc>
                  <a:txBody>
                    <a:bodyPr/>
                    <a:lstStyle/>
                    <a:p>
                      <a:pPr algn="ctr" fontAlgn="ctr"/>
                      <a:r>
                        <a:rPr lang="en-US" sz="1250" b="0">
                          <a:effectLst/>
                        </a:rPr>
                        <a:t>In Client-Server Network, Clients and server are differentiated, Specific server and clients are present.</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effectLst/>
                        </a:rPr>
                        <a:t>In Peer-to-Peer Network, Clients and server are not differentiated.</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262722076"/>
                  </a:ext>
                </a:extLst>
              </a:tr>
              <a:tr h="494375">
                <a:tc>
                  <a:txBody>
                    <a:bodyPr/>
                    <a:lstStyle/>
                    <a:p>
                      <a:pPr algn="ctr" fontAlgn="ctr"/>
                      <a:r>
                        <a:rPr lang="en-US" sz="1250" b="0">
                          <a:effectLst/>
                        </a:rPr>
                        <a:t>Client-Server Network focuses on information sharing.</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effectLst/>
                        </a:rPr>
                        <a:t>While Peer-to-Peer Network focuses on connectivity.</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687019230"/>
                  </a:ext>
                </a:extLst>
              </a:tr>
              <a:tr h="494375">
                <a:tc>
                  <a:txBody>
                    <a:bodyPr/>
                    <a:lstStyle/>
                    <a:p>
                      <a:pPr algn="ctr" fontAlgn="ctr"/>
                      <a:r>
                        <a:rPr lang="en-US" sz="1250" b="0" dirty="0">
                          <a:effectLst/>
                        </a:rPr>
                        <a:t>In Client-Server Network, Centralized server is used to store the data.</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effectLst/>
                        </a:rPr>
                        <a:t>While in Peer-to-Peer Network, Each peer has its own data.</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32857539"/>
                  </a:ext>
                </a:extLst>
              </a:tr>
              <a:tr h="750085">
                <a:tc>
                  <a:txBody>
                    <a:bodyPr/>
                    <a:lstStyle/>
                    <a:p>
                      <a:pPr algn="ctr" fontAlgn="ctr"/>
                      <a:r>
                        <a:rPr lang="en-US" sz="1250" b="0">
                          <a:effectLst/>
                        </a:rPr>
                        <a:t>In Client-Server Network, Server respond the services which is request by Client.</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effectLst/>
                        </a:rPr>
                        <a:t>While in Peer-to-Peer Network, Each and every node can do both request and respond for the services.</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6060148"/>
                  </a:ext>
                </a:extLst>
              </a:tr>
              <a:tr h="494375">
                <a:tc>
                  <a:txBody>
                    <a:bodyPr/>
                    <a:lstStyle/>
                    <a:p>
                      <a:pPr algn="ctr" fontAlgn="ctr"/>
                      <a:r>
                        <a:rPr lang="en-US" sz="1250" b="0">
                          <a:effectLst/>
                        </a:rPr>
                        <a:t>Client-Server Network are costlier than Peer-to-Peer Network.</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effectLst/>
                        </a:rPr>
                        <a:t>While Peer-to-Peer Network are less costlier than Client-Server Network.</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592267617"/>
                  </a:ext>
                </a:extLst>
              </a:tr>
              <a:tr h="494375">
                <a:tc>
                  <a:txBody>
                    <a:bodyPr/>
                    <a:lstStyle/>
                    <a:p>
                      <a:pPr algn="ctr" fontAlgn="ctr"/>
                      <a:r>
                        <a:rPr lang="en-US" sz="1250" b="0">
                          <a:effectLst/>
                        </a:rPr>
                        <a:t>Client-Server Network are more stable than Peer-to-Peer Network.</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effectLst/>
                        </a:rPr>
                        <a:t>While Peer-to-Peer Network are less stable if number of peer is increase.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976340849"/>
                  </a:ext>
                </a:extLst>
              </a:tr>
              <a:tr h="750085">
                <a:tc>
                  <a:txBody>
                    <a:bodyPr/>
                    <a:lstStyle/>
                    <a:p>
                      <a:pPr algn="ctr" fontAlgn="ctr"/>
                      <a:r>
                        <a:rPr lang="en-US" sz="1250" b="0">
                          <a:effectLst/>
                        </a:rPr>
                        <a:t>Client-Server Network is used for both small and large networks.</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dirty="0">
                          <a:effectLst/>
                        </a:rPr>
                        <a:t>While Peer-to-Peer Network is generally suited for small networks with fewer than 10 computers.</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287783578"/>
                  </a:ext>
                </a:extLst>
              </a:tr>
            </a:tbl>
          </a:graphicData>
        </a:graphic>
      </p:graphicFrame>
    </p:spTree>
    <p:extLst>
      <p:ext uri="{BB962C8B-B14F-4D97-AF65-F5344CB8AC3E}">
        <p14:creationId xmlns:p14="http://schemas.microsoft.com/office/powerpoint/2010/main" val="3480513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191</TotalTime>
  <Words>4199</Words>
  <Application>Microsoft Office PowerPoint</Application>
  <PresentationFormat>Widescreen</PresentationFormat>
  <Paragraphs>383</Paragraphs>
  <Slides>64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64</vt:i4>
      </vt:variant>
    </vt:vector>
  </HeadingPairs>
  <TitlesOfParts>
    <vt:vector size="70" baseType="lpstr">
      <vt:lpstr>Arial</vt:lpstr>
      <vt:lpstr>Calibri</vt:lpstr>
      <vt:lpstr>Calibri Light</vt:lpstr>
      <vt:lpstr>Nunito</vt:lpstr>
      <vt:lpstr>Wingdings</vt:lpstr>
      <vt:lpstr>Office Theme</vt:lpstr>
      <vt:lpstr>DATA COMMUNICATION AND COMPUTER NETWORKS</vt:lpstr>
      <vt:lpstr>UNIT-1</vt:lpstr>
      <vt:lpstr>DATA &amp; INFORMATION</vt:lpstr>
      <vt:lpstr>1.1 DATA COMMUNICATION </vt:lpstr>
      <vt:lpstr>PowerPoint Presentation</vt:lpstr>
      <vt:lpstr>PowerPoint Presentation</vt:lpstr>
      <vt:lpstr>PowerPoint Presentation</vt:lpstr>
      <vt:lpstr>1.2 DATA REPRESENTATION </vt:lpstr>
      <vt:lpstr>PowerPoint Presentation</vt:lpstr>
      <vt:lpstr>1.3 The Data Communication Process</vt:lpstr>
      <vt:lpstr> Data Generation </vt:lpstr>
      <vt:lpstr>Encoding and Formatting</vt:lpstr>
      <vt:lpstr>Transmission</vt:lpstr>
      <vt:lpstr>Reception </vt:lpstr>
      <vt:lpstr>Decoding and Interpretation </vt:lpstr>
      <vt:lpstr>Acknowledgment and Feedback </vt:lpstr>
      <vt:lpstr>1.4 Components of communication media </vt:lpstr>
      <vt:lpstr>1. Source (Sender) </vt:lpstr>
      <vt:lpstr>2. Message </vt:lpstr>
      <vt:lpstr>3. Channel </vt:lpstr>
      <vt:lpstr>4. Receiver </vt:lpstr>
      <vt:lpstr>5. Feedback </vt:lpstr>
      <vt:lpstr>6. Environment</vt:lpstr>
      <vt:lpstr>7. Context </vt:lpstr>
      <vt:lpstr>8. Interference (Noise) </vt:lpstr>
      <vt:lpstr>1.5 MODES OF DATA COMMUNICATION</vt:lpstr>
      <vt:lpstr> 1. Simplex  </vt:lpstr>
      <vt:lpstr>2.Half Duplex </vt:lpstr>
      <vt:lpstr>3. Full Duplex</vt:lpstr>
      <vt:lpstr>1.6 IEEE PROTOCOL AND STANDARDS</vt:lpstr>
      <vt:lpstr>PowerPoint Presentation</vt:lpstr>
      <vt:lpstr>Common IEEE Protocols and Standards in Networking</vt:lpstr>
      <vt:lpstr>PowerPoint Presentation</vt:lpstr>
      <vt:lpstr>Layers of IEEE Protocols </vt:lpstr>
      <vt:lpstr>Examples of IEEE Protocol Use Cases </vt:lpstr>
      <vt:lpstr>Key Concepts in IEEE Protocols </vt:lpstr>
      <vt:lpstr>1.7 Network classifications</vt:lpstr>
      <vt:lpstr>Types of Computer Networks </vt:lpstr>
      <vt:lpstr>Personal Area Network (PAN) </vt:lpstr>
      <vt:lpstr>PowerPoint Presentation</vt:lpstr>
      <vt:lpstr>PowerPoint Presentation</vt:lpstr>
      <vt:lpstr>PowerPoint Presentation</vt:lpstr>
      <vt:lpstr>Local Area Network (LAN) </vt:lpstr>
      <vt:lpstr>PowerPoint Presentation</vt:lpstr>
      <vt:lpstr>PowerPoint Presentation</vt:lpstr>
      <vt:lpstr>Campus Area Network (CAN) </vt:lpstr>
      <vt:lpstr>PowerPoint Presentation</vt:lpstr>
      <vt:lpstr>PowerPoint Presentation</vt:lpstr>
      <vt:lpstr>Metropolitan Area Network (MAN) </vt:lpstr>
      <vt:lpstr>PowerPoint Presentation</vt:lpstr>
      <vt:lpstr>PowerPoint Presentation</vt:lpstr>
      <vt:lpstr>Wide Area Network (WAN) </vt:lpstr>
      <vt:lpstr>PowerPoint Presentation</vt:lpstr>
      <vt:lpstr>PowerPoint Presentation</vt:lpstr>
      <vt:lpstr>PowerPoint Presentation</vt:lpstr>
      <vt:lpstr>1.8 Rudiments of networks topologies </vt:lpstr>
      <vt:lpstr>PowerPoint Presentation</vt:lpstr>
      <vt:lpstr>PowerPoint Presentation</vt:lpstr>
      <vt:lpstr>PowerPoint Presentation</vt:lpstr>
      <vt:lpstr>1.9 Client Server and Peer to Peer Network Architecture. </vt:lpstr>
      <vt:lpstr>PowerPoint Presentation</vt:lpstr>
      <vt:lpstr>Peer to Peer Network</vt:lpstr>
      <vt:lpstr>PowerPoint Presentation</vt:lpstr>
      <vt:lpstr>Difference Between Client-Server and Peer-to-Peer Network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COMMUNICATION AND COMPUTER NETWORKS</dc:title>
  <dc:creator>sasirekha rajeshkumar</dc:creator>
  <cp:lastModifiedBy>admin</cp:lastModifiedBy>
  <cp:revision>25</cp:revision>
  <dcterms:created xsi:type="dcterms:W3CDTF">2025-06-14T12:07:54Z</dcterms:created>
  <dcterms:modified xsi:type="dcterms:W3CDTF">2025-06-24T08:35:25Z</dcterms:modified>
</cp:coreProperties>
</file>